
<file path=[Content_Types].xml><?xml version="1.0" encoding="utf-8"?>
<Types xmlns="http://schemas.openxmlformats.org/package/2006/content-types">
  <Default Extension="xml" ContentType="application/xml"/>
  <Default Extension="rels" ContentType="application/vnd.openxmlformats-package.relationships+xml"/>
  <Default Extension="jpeg" ContentType="image/jpeg"/>
  <Default Extension="jpg" ContentType="image/jpg"/>
  <Default Extension="svg" ContentType="image/svg+xml"/>
  <Default Extension="png" ContentType="image/png"/>
  <Default Extension="gif" ContentType="image/gif"/>
  <Default Extension="m4v" ContentType="video/mp4"/>
  <Default Extension="mp4" ContentType="video/mp4"/>
  <Default Extension="vml" ContentType="application/vnd.openxmlformats-officedocument.vmlDrawing"/>
  <Default Extension="xlsx" ContentType="application/vnd.openxmlformats-officedocument.spreadsheetml.sheet"/>
  <Override PartName="/ppt/presentation.xml" ContentType="application/vnd.openxmlformats-officedocument.presentationml.presentation.main+xml"/>
  <Override PartName="/ppt/notesMasters/notesMaster1.xml" ContentType="application/vnd.openxmlformats-officedocument.presentationml.notesMaster+xml"/>
  <Override PartName="/ppt/slideMasters/slideMaster1.xml" ContentType="application/vnd.openxmlformats-officedocument.presentationml.slideMaster+xml"/>
  <Override PartName="/ppt/slides/slide1.xml" ContentType="application/vnd.openxmlformats-officedocument.presentationml.slide+xml"/>
  <Override PartName="/ppt/slideMasters/slideMaster2.xml" ContentType="application/vnd.openxmlformats-officedocument.presentationml.slideMaster+xml"/>
  <Override PartName="/ppt/slides/slide2.xml" ContentType="application/vnd.openxmlformats-officedocument.presentationml.slide+xml"/>
  <Override PartName="/ppt/slideMasters/slideMaster3.xml" ContentType="application/vnd.openxmlformats-officedocument.presentationml.slideMaster+xml"/>
  <Override PartName="/ppt/slides/slide3.xml" ContentType="application/vnd.openxmlformats-officedocument.presentationml.slide+xml"/>
  <Override PartName="/ppt/slideMasters/slideMaster4.xml" ContentType="application/vnd.openxmlformats-officedocument.presentationml.slideMaster+xml"/>
  <Override PartName="/ppt/slides/slide4.xml" ContentType="application/vnd.openxmlformats-officedocument.presentationml.slide+xml"/>
  <Override PartName="/ppt/slideMasters/slideMaster5.xml" ContentType="application/vnd.openxmlformats-officedocument.presentationml.slideMaster+xml"/>
  <Override PartName="/ppt/slides/slide5.xml" ContentType="application/vnd.openxmlformats-officedocument.presentationml.slide+xml"/>
  <Override PartName="/ppt/slideMasters/slideMaster6.xml" ContentType="application/vnd.openxmlformats-officedocument.presentationml.slideMaster+xml"/>
  <Override PartName="/ppt/slides/slide6.xml" ContentType="application/vnd.openxmlformats-officedocument.presentationml.slide+xml"/>
  <Override PartName="/ppt/slideMasters/slideMaster7.xml" ContentType="application/vnd.openxmlformats-officedocument.presentationml.slideMaster+xml"/>
  <Override PartName="/ppt/slides/slide7.xml" ContentType="application/vnd.openxmlformats-officedocument.presentationml.slide+xml"/>
  <Override PartName="/ppt/slideMasters/slideMaster8.xml" ContentType="application/vnd.openxmlformats-officedocument.presentationml.slideMaster+xml"/>
  <Override PartName="/ppt/slides/slide8.xml" ContentType="application/vnd.openxmlformats-officedocument.presentationml.slide+xml"/>
  <Override PartName="/ppt/slideMasters/slideMaster9.xml" ContentType="application/vnd.openxmlformats-officedocument.presentationml.slideMaster+xml"/>
  <Override PartName="/ppt/slides/slide9.xml" ContentType="application/vnd.openxmlformats-officedocument.presentationml.slide+xml"/>
  <Override PartName="/ppt/slideMasters/slideMaster10.xml" ContentType="application/vnd.openxmlformats-officedocument.presentationml.slideMaster+xml"/>
  <Override PartName="/ppt/slides/slide10.xml" ContentType="application/vnd.openxmlformats-officedocument.presentationml.slide+xml"/>
  <Override PartName="/ppt/slideMasters/slideMaster11.xml" ContentType="application/vnd.openxmlformats-officedocument.presentationml.slideMaster+xml"/>
  <Override PartName="/ppt/slides/slide11.xml" ContentType="application/vnd.openxmlformats-officedocument.presentationml.slide+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notesSlides/notesSlide1.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notesSlides/notesSlide10.xml" ContentType="application/vnd.openxmlformats-officedocument.presentationml.notesSlide+xml"/>
  <Override PartName="/ppt/notesSlides/notesSlide11.xml" ContentType="application/vnd.openxmlformats-officedocument.presentationml.notesSlide+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
		<Relationship Id="rId1" Type="http://schemas.openxmlformats.org/officeDocument/2006/relationships/extended-properties" Target="docProps/app.xml"/>
		<Relationship Id="rId2" Type="http://schemas.openxmlformats.org/package/2006/relationships/metadata/core-properties" Target="docProps/core.xml"/>
		<Relationship Id="rId3" Type="http://schemas.openxmlformats.org/officeDocument/2006/relationships/officeDocument" Target="ppt/presentation.xml"/>
		</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648" r:id="rId1"/>
  </p:sldMasterIdLst>
  <p:sldIdLst>
    <p:sldId id="256" r:id="rId2"/>
    <p:sldId id="257" r:id="rId3"/>
    <p:sldId id="258" r:id="rId4"/>
    <p:sldId id="259" r:id="rId5"/>
    <p:sldId id="260" r:id="rId6"/>
    <p:sldId id="261" r:id="rId7"/>
    <p:sldId id="262" r:id="rId8"/>
    <p:sldId id="263" r:id="rId9"/>
    <p:sldId id="264" r:id="rId10"/>
    <p:sldId id="265" r:id="rId11"/>
    <p:sldId id="266" r:id="rId12"/>
  </p:sldIdLst>
  <p:notesMasterIdLst>
    <p:notesMasterId r:id="rId13"/>
  </p:notesMasterIdLst>
  <p:sldSz cx="12191695" cy="6858000"/>
  <p:notesSz cx="6858000" cy="12191695"/>
  <p:defaultTextStyle>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presentation>
</file>

<file path=ppt/presProps.xml><?xml version="1.0" encoding="utf-8"?>
<p:presentationPr xmlns:a="http://schemas.openxmlformats.org/drawingml/2006/main" xmlns:r="http://schemas.openxmlformats.org/officeDocument/2006/relationships" xmlns:p="http://schemas.openxmlformats.org/presentationml/2006/main"/>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p:normalViewPr horzBarState="maximized">
    <p:restoredLeft sz="15611"/>
    <p:restoredTop sz="94610"/>
  </p:normalViewPr>
  <p:slideViewPr>
    <p:cSldViewPr snapToGrid="0" snapToObjects="1">
      <p:cViewPr varScale="1">
        <p:scale>
          <a:sx n="136" d="100"/>
          <a:sy n="136" d="100"/>
        </p:scale>
        <p:origin x="216" y="312"/>
      </p:cViewPr>
      <p:guideLst/>
    </p:cSldViewPr>
  </p:slideViewPr>
  <p:notesTextViewPr>
    <p:cViewPr>
      <p:scale>
        <a:sx n="1" d="1"/>
        <a:sy n="1" d="1"/>
      </p:scale>
      <p:origin x="0" y="0"/>
    </p:cViewPr>
  </p:notesTextViewPr>
  <p:gridSpacing cx="76200" cy="76200"/>
</p:viewPr>
</file>

<file path=ppt/_rels/presentation.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slide" Target="slides/slide1.xml"/><Relationship Id="rId3" Type="http://schemas.openxmlformats.org/officeDocument/2006/relationships/slide" Target="slides/slide2.xml"/><Relationship Id="rId4" Type="http://schemas.openxmlformats.org/officeDocument/2006/relationships/slide" Target="slides/slide3.xml"/><Relationship Id="rId5" Type="http://schemas.openxmlformats.org/officeDocument/2006/relationships/slide" Target="slides/slide4.xml"/><Relationship Id="rId6" Type="http://schemas.openxmlformats.org/officeDocument/2006/relationships/slide" Target="slides/slide5.xml"/><Relationship Id="rId7" Type="http://schemas.openxmlformats.org/officeDocument/2006/relationships/slide" Target="slides/slide6.xml"/><Relationship Id="rId8" Type="http://schemas.openxmlformats.org/officeDocument/2006/relationships/slide" Target="slides/slide7.xml"/><Relationship Id="rId9" Type="http://schemas.openxmlformats.org/officeDocument/2006/relationships/slide" Target="slides/slide8.xml"/><Relationship Id="rId10" Type="http://schemas.openxmlformats.org/officeDocument/2006/relationships/slide" Target="slides/slide9.xml"/><Relationship Id="rId11" Type="http://schemas.openxmlformats.org/officeDocument/2006/relationships/slide" Target="slides/slide10.xml"/><Relationship Id="rId12" Type="http://schemas.openxmlformats.org/officeDocument/2006/relationships/slide" Target="slides/slide11.xml"/><Relationship Id="rId13" Type="http://schemas.openxmlformats.org/officeDocument/2006/relationships/notesMaster" Target="notesMasters/notesMaster1.xml"/><Relationship Id="rId14" Type="http://schemas.openxmlformats.org/officeDocument/2006/relationships/presProps" Target="presProps.xml"/><Relationship Id="rId15" Type="http://schemas.openxmlformats.org/officeDocument/2006/relationships/viewProps" Target="viewProps.xml"/><Relationship Id="rId16" Type="http://schemas.openxmlformats.org/officeDocument/2006/relationships/theme" Target="theme/theme1.xml"/><Relationship Id="rId17" Type="http://schemas.openxmlformats.org/officeDocument/2006/relationships/tableStyles" Target="tableStyles.xml"/></Relationships>
</file>

<file path=ppt/notesMasters/_rels/notesMaster1.xml.rels><?xml version="1.0" encoding="UTF-8" standalone="yes"?>
<Relationships xmlns="http://schemas.openxmlformats.org/package/2006/relationships">
		<Relationship Id="rId1" Type="http://schemas.openxmlformats.org/officeDocument/2006/relationships/theme" Target="../theme/theme1.xml"/>
		</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8788"/>
          </a:xfrm>
          <a:prstGeom prst="rect">
            <a:avLst/>
          </a:prstGeom>
        </p:spPr>
        <p:txBody>
          <a:bodyPr vert="horz" lIns="91440" tIns="45720" rIns="91440" bIns="45720" rtlCol="0"/>
          <a:lstStyle>
            <a:lvl1pPr algn="l">
              <a:defRPr sz="1200"/>
            </a:lvl1pPr>
          </a:lstStyle>
          <a:p>
            <a:endParaRPr lang="en-US"/>
          </a:p>
        </p:txBody>
      </p:sp>
      <p:sp>
        <p:nvSpPr>
          <p:cNvPr id="3" name="Date Placeholder 2"/>
          <p:cNvSpPr>
            <a:spLocks noGrp="1"/>
          </p:cNvSpPr>
          <p:nvPr>
            <p:ph type="dt" idx="1"/>
          </p:nvPr>
        </p:nvSpPr>
        <p:spPr>
          <a:xfrm>
            <a:off x="3884613" y="0"/>
            <a:ext cx="2971800" cy="458788"/>
          </a:xfrm>
          <a:prstGeom prst="rect">
            <a:avLst/>
          </a:prstGeom>
        </p:spPr>
        <p:txBody>
          <a:bodyPr vert="horz" lIns="91440" tIns="45720" rIns="91440" bIns="45720" rtlCol="0"/>
          <a:lstStyle>
            <a:lvl1pPr algn="r">
              <a:defRPr sz="1200"/>
            </a:lvl1pPr>
          </a:lstStyle>
          <a:p>
            <a:fld id="{5282F153-3F37-0F45-9E97-73ACFA13230C}" type="datetimeFigureOut">
              <a:rPr lang="en-US"/>
              <a:t>7/23/19</a:t>
            </a:fld>
            <a:endParaRPr lang="en-US"/>
          </a:p>
        </p:txBody>
      </p:sp>
      <p:sp>
        <p:nvSpPr>
          <p:cNvPr id="4" name="Slide Image Placeholder 3"/>
          <p:cNvSpPr>
            <a:spLocks noGrp="1" noRot="1" noChangeAspect="1"/>
          </p:cNvSpPr>
          <p:nvPr>
            <p:ph type="sldImg" idx="2"/>
          </p:nvPr>
        </p:nvSpPr>
        <p:spPr>
          <a:xfrm>
            <a:off x="685800" y="1143000"/>
            <a:ext cx="5486400" cy="3086100"/>
          </a:xfrm>
          <a:prstGeom prst="rect">
            <a:avLst/>
          </a:prstGeom>
          <a:noFill/>
          <a:ln w="12700">
            <a:solidFill>
              <a:prstClr val="black"/>
            </a:solidFill>
          </a:ln>
        </p:spPr>
        <p:txBody>
          <a:bodyPr vert="horz" lIns="91440" tIns="45720" rIns="91440" bIns="45720" rtlCol="0" anchor="ctr"/>
          <a:lstStyle/>
          <a:p>
            <a:endParaRPr lang="en-US"/>
          </a:p>
        </p:txBody>
      </p:sp>
      <p:sp>
        <p:nvSpPr>
          <p:cNvPr id="5" name="Notes Placeholder 4"/>
          <p:cNvSpPr>
            <a:spLocks noGrp="1"/>
          </p:cNvSpPr>
          <p:nvPr>
            <p:ph type="body" sz="quarter" idx="3"/>
          </p:nvPr>
        </p:nvSpPr>
        <p:spPr>
          <a:xfrm>
            <a:off x="685800" y="4400550"/>
            <a:ext cx="5486400" cy="3600450"/>
          </a:xfrm>
          <a:prstGeom prst="rect">
            <a:avLst/>
          </a:prstGeom>
        </p:spPr>
        <p:txBody>
          <a:bodyPr vert="horz" lIns="91440" tIns="45720" rIns="91440" bIns="45720" rtlCol="0"/>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6" name="Footer Placeholder 5"/>
          <p:cNvSpPr>
            <a:spLocks noGrp="1"/>
          </p:cNvSpPr>
          <p:nvPr>
            <p:ph type="ftr" sz="quarter" idx="4"/>
          </p:nvPr>
        </p:nvSpPr>
        <p:spPr>
          <a:xfrm>
            <a:off x="0" y="8685213"/>
            <a:ext cx="2971800" cy="458787"/>
          </a:xfrm>
          <a:prstGeom prst="rect">
            <a:avLst/>
          </a:prstGeom>
        </p:spPr>
        <p:txBody>
          <a:bodyPr vert="horz" lIns="91440" tIns="45720" rIns="91440" bIns="45720" rtlCol="0" anchor="b"/>
          <a:lstStyle>
            <a:lvl1pPr algn="l">
              <a:defRPr sz="1200"/>
            </a:lvl1pPr>
          </a:lstStyle>
          <a:p>
            <a:endParaRPr lang="en-US"/>
          </a:p>
        </p:txBody>
      </p:sp>
      <p:sp>
        <p:nvSpPr>
          <p:cNvPr id="7" name="Slide Number Placeholder 6"/>
          <p:cNvSpPr>
            <a:spLocks noGrp="1"/>
          </p:cNvSpPr>
          <p:nvPr>
            <p:ph type="sldNum" sz="quarter" idx="5"/>
          </p:nvPr>
        </p:nvSpPr>
        <p:spPr>
          <a:xfrm>
            <a:off x="3884613" y="8685213"/>
            <a:ext cx="2971800" cy="458787"/>
          </a:xfrm>
          <a:prstGeom prst="rect">
            <a:avLst/>
          </a:prstGeom>
        </p:spPr>
        <p:txBody>
          <a:bodyPr vert="horz" lIns="91440" tIns="45720" rIns="91440" bIns="45720" rtlCol="0" anchor="b"/>
          <a:lstStyle>
            <a:lvl1pPr algn="r">
              <a:defRPr sz="1200"/>
            </a:lvl1pPr>
          </a:lstStyle>
          <a:p>
            <a:fld id="{CE5E9CC1-C706-0F49-92D6-E571CC5EEA8F}" type="slidenum">
              <a:rPr lang="en-US"/>
              <a:t>‹#›</a:t>
            </a:fld>
            <a:endParaRPr lang="en-US"/>
          </a:p>
        </p:txBody>
      </p:sp>
    </p:spTree>
    <p:extLst>
      <p:ext uri="{BB962C8B-B14F-4D97-AF65-F5344CB8AC3E}">
        <p14:creationId xmlns:p14="http://schemas.microsoft.com/office/powerpoint/2010/main" val="1024086991"/>
      </p:ext>
    </p:extLst>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xml"/>
		</Relationships>
</file>

<file path=ppt/notesSlides/_rels/notesSlide2.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xml"/>
		</Relationships>
</file>

<file path=ppt/notesSlides/_rels/notesSlide3.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3.xml"/>
		</Relationships>
</file>

<file path=ppt/notesSlides/_rels/notesSlide4.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4.xml"/>
		</Relationships>
</file>

<file path=ppt/notesSlides/_rels/notesSlide5.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5.xml"/>
		</Relationships>
</file>

<file path=ppt/notesSlides/_rels/notesSlide6.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6.xml"/>
		</Relationships>
</file>

<file path=ppt/notesSlides/_rels/notesSlide7.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7.xml"/>
		</Relationships>
</file>

<file path=ppt/notesSlides/_rels/notesSlide8.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8.xml"/>
		</Relationships>
</file>

<file path=ppt/notesSlides/_rels/notesSlide9.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9.xml"/>
		</Relationships>
</file>

<file path=ppt/notesSlides/_rels/notesSlide10.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0.xml"/>
		</Relationships>
</file>

<file path=ppt/notesSlides/_rels/notesSlide11.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1.xml"/>
		</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Open on this slide while people find a seat in the circle or the horseshoe; they need to see each other for the argument and the admission this session runs on. Check that everyone has their opportunity to hand, and pair anyone who forgot with someone who did not. Say plainly that nobody gets shamed in this room, and that everyone here has said yes too quickly at least once.</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Ask what a bad yes costs: weeks of unpaid work, a fee that never comes back, personal documents sitting in a stranger's inbox. Take three answers and correct none of them. Then read the three objectives and say that the habit, not the checklist, is what they are taking home.</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Put the VET card up and read the four questions once, in order. Say that confidence is not accuracy and that advice often arrives with an incentive attached; the room is here to check both. The hard stops are upfront fees, guaranteed income, secrecy, urgency, and vagueness about the actual work, but keep the list itself off the screen until the red-flag pass.</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Announce each block as it starts. The frame is short and the read-alouds take the rest of the first block; stop anyone who starts defending their post. Keep the red-flag list closed until its block, and protect the last five minutes for the spoken verdict.</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4</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Give each person thirty seconds for the read-aloud and hold them to it. Write the four questions on the board as the working sheet while they copy them. Hold two of your own examples in reserve, one that survives all four questions and one that does not, because a room trained only on scams learns to reject everything, which is its own failure.</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5</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Question one: push past the first answer, because every recommendation has a beneficiary, including a warm one from a relative or a churchmate. Question two: take one participant's post and sort its claims aloud with the room before they do their own. Question three: the moment an argument starts, move the room to when this was true; dates end arguments. Watch for anyone negotiating with a hard stop at the end.</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6</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If there is time, add the paid skills test: a client offers a short paid test, so how is that different from the unpaid deliverable on the board? Let the last prompt land on each person, because a flag named in front of witnesses is harder to walk past later. Watch for anyone whose verdict was proceed on a post that carried a hard stop.</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7</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A room that only practises on scams learns to say no to everything, and then applies to nothing. Losing one bad post in a room full of witnesses is far cheaper than losing three weeks alone. Opinions extend an argument until the clock runs out; the only part of this that works on flags nobody has listed yet is the reasoning, so do not let the list replace it.</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8</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Make each person commit aloud, because a spoken verdict is harder to talk yourself out of. Say the drill out loud and have them write it under their verdict. Name when the group meets again; a drill without a next date quietly expires.</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9</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Each session asks a different thing of the room: this one needed honesty, ASK needs quiet, DECONSTRUCT needs argument. Choose the one your group can carry next. Ask for the unanswered question days ahead, screenshots welcome, because the exact wording is the material.</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10</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Share and adapt this session, including inside training you are paid to run, as long as you credit Hire From PH (hirefrom.ph) and say what you changed. Run it once as written before you change it, then tell the next facilitator what you improved. Nothing here needs our permission or our presence.</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11</a:t>
            </a:fld>
            <a:endParaRPr lang="en-US"/>
          </a:p>
        </p:txBody>
      </p:sp>
    </p:spTree>
    <p:extLst>
      <p:ext uri="{BB962C8B-B14F-4D97-AF65-F5344CB8AC3E}">
        <p14:creationId xmlns:p14="http://schemas.microsoft.com/office/powerpoint/2010/main" val="1024086991"/>
      </p:ext>
    </p:extLst>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preserve="1">
  <p:cSld name="DEFAULT">
    <p:bg>
      <p:bgRef idx="1001">
        <a:schemeClr val="bg1"/>
      </p:bgRef>
    </p:bg>
    <p:spTree>
      <p:nvGrpSpPr>
        <p:cNvPr id="1" name=""/>
        <p:cNvGrpSpPr/>
        <p:nvPr/>
      </p:nvGrpSpPr>
      <p:grpSpPr>
        <a:xfrm>
          <a:off x="0" y="0"/>
          <a:ext cx="0" cy="0"/>
          <a:chOff x="0" y="0"/>
          <a:chExt cx="0" cy="0"/>
        </a:xfrm>
      </p:grpSpPr>
    </p:spTree>
  </p:cSld>
  <p:clrMapOvr>
    <a:masterClrMapping/>
  </p:clrMapOvr>
</p:sldLayout>
</file>

<file path=ppt/slideMasters/_rels/slideMaster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theme" Target="../theme/theme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Tree>
  </p:cSld>
  <p:clrMap bg1="lt1" tx1="dk1" bg2="lt2" tx2="dk2" accent1="accent1" accent2="accent2" accent3="accent3" accent4="accent4" accent5="accent5" accent6="accent6" hlink="hlink" folHlink="folHlink"/>
  <p:sldLayoutIdLst>
    <p:sldLayoutId id="2147483649" r:id="rId1"/>
  </p:sldLayoutIdLst>
  <p:hf sldNum="0" hdr="0" ftr="0" dt="0"/>
  <p:txStyles>
    <p:titleStyle>
      <a:lvl1pPr algn="ctr" defTabSz="9144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914400" rtl="0" eaLnBrk="1" latinLnBrk="0" hangingPunct="1">
        <a:spcBef>
          <a:spcPct val="20000"/>
        </a:spcBef>
        <a:buFont typeface="Arial" pitchFamily="34" charset="0"/>
        <a:buChar char="•"/>
        <a:defRPr sz="3200" kern="1200">
          <a:solidFill>
            <a:schemeClr val="tx1"/>
          </a:solidFill>
          <a:latin typeface="+mn-lt"/>
          <a:ea typeface="+mn-ea"/>
          <a:cs typeface="+mn-cs"/>
        </a:defRPr>
      </a:lvl1pPr>
      <a:lvl2pPr marL="742950" indent="-285750" algn="l" defTabSz="914400" rtl="0" eaLnBrk="1" latinLnBrk="0" hangingPunct="1">
        <a:spcBef>
          <a:spcPct val="20000"/>
        </a:spcBef>
        <a:buFont typeface="Arial" pitchFamily="34" charset="0"/>
        <a:buChar char="–"/>
        <a:defRPr sz="2800" kern="1200">
          <a:solidFill>
            <a:schemeClr val="tx1"/>
          </a:solidFill>
          <a:latin typeface="+mn-lt"/>
          <a:ea typeface="+mn-ea"/>
          <a:cs typeface="+mn-cs"/>
        </a:defRPr>
      </a:lvl2pPr>
      <a:lvl3pPr marL="1143000" indent="-228600" algn="l" defTabSz="914400" rtl="0" eaLnBrk="1" latinLnBrk="0" hangingPunct="1">
        <a:spcBef>
          <a:spcPct val="20000"/>
        </a:spcBef>
        <a:buFont typeface="Arial" pitchFamily="34" charset="0"/>
        <a:buChar char="•"/>
        <a:defRPr sz="2400" kern="1200">
          <a:solidFill>
            <a:schemeClr val="tx1"/>
          </a:solidFill>
          <a:latin typeface="+mn-lt"/>
          <a:ea typeface="+mn-ea"/>
          <a:cs typeface="+mn-cs"/>
        </a:defRPr>
      </a:lvl3pPr>
      <a:lvl4pPr marL="1600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4pPr>
      <a:lvl5pPr marL="20574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5pPr>
      <a:lvl6pPr marL="25146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6pPr>
      <a:lvl7pPr marL="29718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7pPr>
      <a:lvl8pPr marL="34290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8pPr>
      <a:lvl9pPr marL="3886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image" Target="../media/image-1-1.jpg"/><Relationship Id="rId2" Type="http://schemas.openxmlformats.org/officeDocument/2006/relationships/slideLayout" Target="../slideLayouts/slideLayout1.xml"/><Relationship Id="rId3" Type="http://schemas.openxmlformats.org/officeDocument/2006/relationships/notesSlide" Target="../notesSlides/notesSlide1.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2.xml"/></Relationships>
</file>

<file path=ppt/slides/_rels/slide3.xml.rels><?xml version="1.0" encoding="UTF-8" standalone="yes"?>
<Relationships xmlns="http://schemas.openxmlformats.org/package/2006/relationships"><Relationship Id="rId1" Type="http://schemas.openxmlformats.org/officeDocument/2006/relationships/image" Target="../media/image-3-1.png"/><Relationship Id="rId2" Type="http://schemas.openxmlformats.org/officeDocument/2006/relationships/slideLayout" Target="../slideLayouts/slideLayout1.xml"/><Relationship Id="rId3" Type="http://schemas.openxmlformats.org/officeDocument/2006/relationships/notesSlide" Target="../notesSlides/notesSlide3.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4.xm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5.xml"/></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6.xml"/></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7.xml"/></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8.xml"/></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9.xml"/></Relationships>
</file>

<file path=ppt/slides/_rels/slide10.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0.xml"/></Relationships>
</file>

<file path=ppt/slides/_rels/slide11.xml.rels><?xml version="1.0" encoding="UTF-8" standalone="yes"?>
<Relationships xmlns="http://schemas.openxmlformats.org/package/2006/relationships"><Relationship Id="rId1" Type="http://schemas.openxmlformats.org/officeDocument/2006/relationships/image" Target="../media/image-11-1.jpg"/><Relationship Id="rId2" Type="http://schemas.openxmlformats.org/officeDocument/2006/relationships/slideLayout" Target="../slideLayouts/slideLayout1.xml"/><Relationship Id="rId3" Type="http://schemas.openxmlformats.org/officeDocument/2006/relationships/notesSlide" Target="../notesSlides/notesSlide11.xml"/></Relationships>
</file>

<file path=ppt/slides/slide1.xml><?xml version="1.0" encoding="utf-8"?>
<p:sld xmlns:a="http://schemas.openxmlformats.org/drawingml/2006/main" xmlns:r="http://schemas.openxmlformats.org/officeDocument/2006/relationships" xmlns:p="http://schemas.openxmlformats.org/presentationml/2006/main">
  <p:cSld name="Slide 1">
    <p:bg>
      <p:bgPr>
        <a:solidFill>
          <a:srgbClr val="161A24"/>
        </a:solidFill>
      </p:bgPr>
    </p:bg>
    <p:spTree>
      <p:nvGrpSpPr>
        <p:cNvPr id="1" name=""/>
        <p:cNvGrpSpPr/>
        <p:nvPr/>
      </p:nvGrpSpPr>
      <p:grpSpPr>
        <a:xfrm>
          <a:off x="0" y="0"/>
          <a:ext cx="0" cy="0"/>
          <a:chOff x="0" y="0"/>
          <a:chExt cx="0" cy="0"/>
        </a:xfrm>
      </p:grpSpPr>
      <p:pic>
        <p:nvPicPr>
          <p:cNvPr id="2" name="Image 0" descr="C:\Users\Developer\Desktop\hirefromph\hirefromph\public\images\deck-methods.jpg">    </p:cNvPr>
          <p:cNvPicPr>
            <a:picLocks noChangeAspect="1"/>
          </p:cNvPicPr>
          <p:nvPr/>
        </p:nvPicPr>
        <p:blipFill>
          <a:blip r:embed="rId1"/>
          <a:srcRect l="0" r="0" t="0" b="0"/>
          <a:stretch/>
        </p:blipFill>
        <p:spPr>
          <a:xfrm>
            <a:off x="0" y="0"/>
            <a:ext cx="12191695" cy="6858000"/>
          </a:xfrm>
          <a:prstGeom prst="rect">
            <a:avLst/>
          </a:prstGeom>
        </p:spPr>
      </p:pic>
      <p:sp>
        <p:nvSpPr>
          <p:cNvPr id="3" name="Shape 0"/>
          <p:cNvSpPr/>
          <p:nvPr/>
        </p:nvSpPr>
        <p:spPr>
          <a:xfrm>
            <a:off x="0" y="0"/>
            <a:ext cx="12191695" cy="6858000"/>
          </a:xfrm>
          <a:prstGeom prst="rect">
            <a:avLst/>
          </a:prstGeom>
          <a:solidFill>
            <a:srgbClr val="161A24">
              <a:alpha val="72000"/>
            </a:srgbClr>
          </a:solidFill>
          <a:ln w="12700">
            <a:solidFill>
              <a:srgbClr val="161A24">
                <a:alpha val="0"/>
              </a:srgbClr>
            </a:solidFill>
            <a:prstDash val="solid"/>
          </a:ln>
        </p:spPr>
      </p:sp>
      <p:sp>
        <p:nvSpPr>
          <p:cNvPr id="4" name="Text 1"/>
          <p:cNvSpPr/>
          <p:nvPr/>
        </p:nvSpPr>
        <p:spPr>
          <a:xfrm>
            <a:off x="762000" y="3429000"/>
            <a:ext cx="10668000" cy="254000"/>
          </a:xfrm>
          <a:prstGeom prst="rect">
            <a:avLst/>
          </a:prstGeom>
          <a:noFill/>
          <a:ln/>
        </p:spPr>
        <p:txBody>
          <a:bodyPr wrap="square" lIns="0" tIns="0" rIns="0" bIns="0" rtlCol="0" anchor="ctr"/>
          <a:lstStyle/>
          <a:p>
            <a:pPr indent="0" marL="0">
              <a:buNone/>
            </a:pPr>
            <a:r>
              <a:rPr lang="en-US" sz="1400" b="1" spc="300" kern="0" dirty="0">
                <a:solidFill>
                  <a:srgbClr val="AFC5EE"/>
                </a:solidFill>
                <a:latin typeface="Inter" pitchFamily="34" charset="0"/>
                <a:ea typeface="Inter" pitchFamily="34" charset="-122"/>
                <a:cs typeface="Inter" pitchFamily="34" charset="-120"/>
              </a:rPr>
              <a:t>HIRE FROM PH · FOR EDUCATORS</a:t>
            </a:r>
            <a:endParaRPr lang="en-US" sz="1400" dirty="0"/>
          </a:p>
        </p:txBody>
      </p:sp>
      <p:sp>
        <p:nvSpPr>
          <p:cNvPr id="5" name="Text 2"/>
          <p:cNvSpPr/>
          <p:nvPr/>
        </p:nvSpPr>
        <p:spPr>
          <a:xfrm>
            <a:off x="762000" y="3835400"/>
            <a:ext cx="10668000" cy="924560"/>
          </a:xfrm>
          <a:prstGeom prst="rect">
            <a:avLst/>
          </a:prstGeom>
          <a:noFill/>
          <a:ln/>
        </p:spPr>
        <p:txBody>
          <a:bodyPr wrap="square" lIns="0" tIns="0" rIns="0" bIns="0" rtlCol="0" anchor="t"/>
          <a:lstStyle/>
          <a:p>
            <a:pPr indent="0" marL="0">
              <a:lnSpc>
                <a:spcPct val="102000"/>
              </a:lnSpc>
              <a:buNone/>
            </a:pPr>
            <a:r>
              <a:rPr lang="en-US" sz="6000" b="1" dirty="0">
                <a:solidFill>
                  <a:srgbClr val="FFFFFF"/>
                </a:solidFill>
                <a:latin typeface="Inter" pitchFamily="34" charset="0"/>
                <a:ea typeface="Inter" pitchFamily="34" charset="-122"/>
                <a:cs typeface="Inter" pitchFamily="34" charset="-120"/>
              </a:rPr>
              <a:t>Vet an opportunity</a:t>
            </a:r>
            <a:endParaRPr lang="en-US" sz="6000" dirty="0"/>
          </a:p>
        </p:txBody>
      </p:sp>
      <p:sp>
        <p:nvSpPr>
          <p:cNvPr id="6" name="Text 3"/>
          <p:cNvSpPr/>
          <p:nvPr/>
        </p:nvSpPr>
        <p:spPr>
          <a:xfrm>
            <a:off x="762000" y="4912360"/>
            <a:ext cx="8255000" cy="1249680"/>
          </a:xfrm>
          <a:prstGeom prst="rect">
            <a:avLst/>
          </a:prstGeom>
          <a:noFill/>
          <a:ln/>
        </p:spPr>
        <p:txBody>
          <a:bodyPr wrap="square" lIns="0" tIns="0" rIns="0" bIns="0" rtlCol="0" anchor="t"/>
          <a:lstStyle/>
          <a:p>
            <a:pPr indent="0" marL="0">
              <a:lnSpc>
                <a:spcPct val="115000"/>
              </a:lnSpc>
              <a:buNone/>
            </a:pPr>
            <a:r>
              <a:rPr lang="en-US" sz="2200" dirty="0">
                <a:solidFill>
                  <a:srgbClr val="EAF0FB"/>
                </a:solidFill>
                <a:latin typeface="Inter" pitchFamily="34" charset="0"/>
                <a:ea typeface="Inter" pitchFamily="34" charset="-122"/>
                <a:cs typeface="Inter" pitchFamily="34" charset="-120"/>
              </a:rPr>
              <a:t>A sixty-minute session for a room that can see each other. Everyone brings one real opportunity they are undecided about, and leaves with a verdict on paper.</a:t>
            </a:r>
            <a:endParaRPr lang="en-US" sz="2200" dirty="0"/>
          </a:p>
        </p:txBody>
      </p:sp>
      <p:sp>
        <p:nvSpPr>
          <p:cNvPr id="7" name="Text 4"/>
          <p:cNvSpPr/>
          <p:nvPr/>
        </p:nvSpPr>
        <p:spPr>
          <a:xfrm>
            <a:off x="762000" y="6248400"/>
            <a:ext cx="9398000" cy="254000"/>
          </a:xfrm>
          <a:prstGeom prst="rect">
            <a:avLst/>
          </a:prstGeom>
          <a:noFill/>
          <a:ln/>
        </p:spPr>
        <p:txBody>
          <a:bodyPr wrap="square" lIns="0" tIns="0" rIns="0" bIns="0" rtlCol="0" anchor="ctr"/>
          <a:lstStyle/>
          <a:p>
            <a:pPr indent="0" marL="0">
              <a:buNone/>
            </a:pPr>
            <a:r>
              <a:rPr lang="en-US" sz="1100" dirty="0">
                <a:solidFill>
                  <a:srgbClr val="EAF0FB"/>
                </a:solidFill>
                <a:latin typeface="Inter" pitchFamily="34" charset="0"/>
                <a:ea typeface="Inter" pitchFamily="34" charset="-122"/>
                <a:cs typeface="Inter" pitchFamily="34" charset="-120"/>
              </a:rPr>
              <a:t>Hire From PH (hirefrom.ph), licensed CC BY 4.0</a:t>
            </a:r>
            <a:endParaRPr lang="en-US" sz="1100" dirty="0"/>
          </a:p>
        </p:txBody>
      </p:sp>
      <p:sp>
        <p:nvSpPr>
          <p:cNvPr id="8" name="Text 5"/>
          <p:cNvSpPr/>
          <p:nvPr/>
        </p:nvSpPr>
        <p:spPr>
          <a:xfrm>
            <a:off x="10160000" y="6248400"/>
            <a:ext cx="1270000" cy="254000"/>
          </a:xfrm>
          <a:prstGeom prst="rect">
            <a:avLst/>
          </a:prstGeom>
          <a:noFill/>
          <a:ln/>
        </p:spPr>
        <p:txBody>
          <a:bodyPr wrap="square" lIns="0" tIns="0" rIns="0" bIns="0" rtlCol="0" anchor="ctr"/>
          <a:lstStyle/>
          <a:p>
            <a:pPr algn="r" indent="0" marL="0">
              <a:buNone/>
            </a:pPr>
            <a:r>
              <a:rPr lang="en-US" sz="1100" dirty="0">
                <a:solidFill>
                  <a:srgbClr val="EAF0FB"/>
                </a:solidFill>
                <a:latin typeface="Inter" pitchFamily="34" charset="0"/>
                <a:ea typeface="Inter" pitchFamily="34" charset="-122"/>
                <a:cs typeface="Inter" pitchFamily="34" charset="-120"/>
              </a:rPr>
              <a:t>1 / 11</a:t>
            </a:r>
            <a:endParaRPr lang="en-US" sz="1100" dirty="0"/>
          </a:p>
        </p:txBody>
      </p:sp>
    </p:spTree>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name="Slide 2">
    <p:bg>
      <p:bgPr>
        <a:solidFill>
          <a:srgbClr val="FFFFFF"/>
        </a:solidFill>
      </p:bgPr>
    </p:bg>
    <p:spTree>
      <p:nvGrpSpPr>
        <p:cNvPr id="1" name=""/>
        <p:cNvGrpSpPr/>
        <p:nvPr/>
      </p:nvGrpSpPr>
      <p:grpSpPr>
        <a:xfrm>
          <a:off x="0" y="0"/>
          <a:ext cx="0" cy="0"/>
          <a:chOff x="0" y="0"/>
          <a:chExt cx="0" cy="0"/>
        </a:xfrm>
      </p:grpSpPr>
      <p:sp>
        <p:nvSpPr>
          <p:cNvPr id="2" name="Text 0"/>
          <p:cNvSpPr/>
          <p:nvPr/>
        </p:nvSpPr>
        <p:spPr>
          <a:xfrm>
            <a:off x="762000" y="1778000"/>
            <a:ext cx="10668000" cy="254000"/>
          </a:xfrm>
          <a:prstGeom prst="rect">
            <a:avLst/>
          </a:prstGeom>
          <a:noFill/>
          <a:ln/>
        </p:spPr>
        <p:txBody>
          <a:bodyPr wrap="square" lIns="0" tIns="0" rIns="0" bIns="0" rtlCol="0" anchor="ctr"/>
          <a:lstStyle/>
          <a:p>
            <a:pPr indent="0" marL="0">
              <a:buNone/>
            </a:pPr>
            <a:r>
              <a:rPr lang="en-US" sz="1400" b="1" spc="300" kern="0" dirty="0">
                <a:solidFill>
                  <a:srgbClr val="043882"/>
                </a:solidFill>
                <a:latin typeface="Inter" pitchFamily="34" charset="0"/>
                <a:ea typeface="Inter" pitchFamily="34" charset="-122"/>
                <a:cs typeface="Inter" pitchFamily="34" charset="-120"/>
              </a:rPr>
              <a:t>WHY THIS SESSION</a:t>
            </a:r>
            <a:endParaRPr lang="en-US" sz="1400" dirty="0"/>
          </a:p>
        </p:txBody>
      </p:sp>
      <p:sp>
        <p:nvSpPr>
          <p:cNvPr id="3" name="Text 1"/>
          <p:cNvSpPr/>
          <p:nvPr/>
        </p:nvSpPr>
        <p:spPr>
          <a:xfrm>
            <a:off x="762000" y="2184400"/>
            <a:ext cx="10668000" cy="1363472"/>
          </a:xfrm>
          <a:prstGeom prst="rect">
            <a:avLst/>
          </a:prstGeom>
          <a:noFill/>
          <a:ln/>
        </p:spPr>
        <p:txBody>
          <a:bodyPr wrap="square" lIns="0" tIns="0" rIns="0" bIns="0" rtlCol="0" anchor="t"/>
          <a:lstStyle/>
          <a:p>
            <a:pPr indent="0" marL="0">
              <a:lnSpc>
                <a:spcPct val="102000"/>
              </a:lnSpc>
              <a:buNone/>
            </a:pPr>
            <a:r>
              <a:rPr lang="en-US" sz="4600" b="1" dirty="0">
                <a:solidFill>
                  <a:srgbClr val="161A24"/>
                </a:solidFill>
                <a:latin typeface="Inter" pitchFamily="34" charset="0"/>
                <a:ea typeface="Inter" pitchFamily="34" charset="-122"/>
                <a:cs typeface="Inter" pitchFamily="34" charset="-120"/>
              </a:rPr>
              <a:t>No decision about your money or your weeks without evidence on paper</a:t>
            </a:r>
            <a:endParaRPr lang="en-US" sz="4600" dirty="0"/>
          </a:p>
        </p:txBody>
      </p:sp>
      <p:sp>
        <p:nvSpPr>
          <p:cNvPr id="4" name="Text 2"/>
          <p:cNvSpPr/>
          <p:nvPr/>
        </p:nvSpPr>
        <p:spPr>
          <a:xfrm>
            <a:off x="762000" y="3700272"/>
            <a:ext cx="8255000" cy="1498600"/>
          </a:xfrm>
          <a:prstGeom prst="rect">
            <a:avLst/>
          </a:prstGeom>
          <a:noFill/>
          <a:ln/>
        </p:spPr>
        <p:txBody>
          <a:bodyPr wrap="square" lIns="0" tIns="0" rIns="0" bIns="0" rtlCol="0" anchor="t"/>
          <a:lstStyle/>
          <a:p>
            <a:pPr indent="0" marL="0">
              <a:lnSpc>
                <a:spcPct val="115000"/>
              </a:lnSpc>
              <a:buNone/>
            </a:pPr>
            <a:r>
              <a:rPr lang="en-US" sz="2000" dirty="0">
                <a:solidFill>
                  <a:srgbClr val="464C5C"/>
                </a:solidFill>
                <a:latin typeface="Inter" pitchFamily="34" charset="0"/>
                <a:ea typeface="Inter" pitchFamily="34" charset="-122"/>
                <a:cs typeface="Inter" pitchFamily="34" charset="-120"/>
              </a:rPr>
              <a:t>By the end, you can run any job post, client message, or paid course through four questions and write a verdict. You can name the hard-stop red flags and act on one without negotiating with yourself.</a:t>
            </a:r>
            <a:endParaRPr lang="en-US" sz="2000" dirty="0"/>
          </a:p>
        </p:txBody>
      </p:sp>
      <p:sp>
        <p:nvSpPr>
          <p:cNvPr id="5" name="Text 3"/>
          <p:cNvSpPr/>
          <p:nvPr/>
        </p:nvSpPr>
        <p:spPr>
          <a:xfrm>
            <a:off x="762000" y="6248400"/>
            <a:ext cx="9398000" cy="254000"/>
          </a:xfrm>
          <a:prstGeom prst="rect">
            <a:avLst/>
          </a:prstGeom>
          <a:noFill/>
          <a:ln/>
        </p:spPr>
        <p:txBody>
          <a:bodyPr wrap="square" lIns="0" tIns="0" rIns="0" bIns="0" rtlCol="0" anchor="ctr"/>
          <a:lstStyle/>
          <a:p>
            <a:pPr indent="0" marL="0">
              <a:buNone/>
            </a:pPr>
            <a:r>
              <a:rPr lang="en-US" sz="1100" dirty="0">
                <a:solidFill>
                  <a:srgbClr val="5F6575"/>
                </a:solidFill>
                <a:latin typeface="Inter" pitchFamily="34" charset="0"/>
                <a:ea typeface="Inter" pitchFamily="34" charset="-122"/>
                <a:cs typeface="Inter" pitchFamily="34" charset="-120"/>
              </a:rPr>
              <a:t>Hire From PH (hirefrom.ph), licensed CC BY 4.0</a:t>
            </a:r>
            <a:endParaRPr lang="en-US" sz="1100" dirty="0"/>
          </a:p>
        </p:txBody>
      </p:sp>
      <p:sp>
        <p:nvSpPr>
          <p:cNvPr id="6" name="Text 4"/>
          <p:cNvSpPr/>
          <p:nvPr/>
        </p:nvSpPr>
        <p:spPr>
          <a:xfrm>
            <a:off x="10160000" y="6248400"/>
            <a:ext cx="1270000" cy="254000"/>
          </a:xfrm>
          <a:prstGeom prst="rect">
            <a:avLst/>
          </a:prstGeom>
          <a:noFill/>
          <a:ln/>
        </p:spPr>
        <p:txBody>
          <a:bodyPr wrap="square" lIns="0" tIns="0" rIns="0" bIns="0" rtlCol="0" anchor="ctr"/>
          <a:lstStyle/>
          <a:p>
            <a:pPr algn="r" indent="0" marL="0">
              <a:buNone/>
            </a:pPr>
            <a:r>
              <a:rPr lang="en-US" sz="1100" dirty="0">
                <a:solidFill>
                  <a:srgbClr val="5F6575"/>
                </a:solidFill>
                <a:latin typeface="Inter" pitchFamily="34" charset="0"/>
                <a:ea typeface="Inter" pitchFamily="34" charset="-122"/>
                <a:cs typeface="Inter" pitchFamily="34" charset="-120"/>
              </a:rPr>
              <a:t>2 / 11</a:t>
            </a:r>
            <a:endParaRPr lang="en-US" sz="1100" dirty="0"/>
          </a:p>
        </p:txBody>
      </p:sp>
    </p:spTree>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name="Slide 3">
    <p:bg>
      <p:bgPr>
        <a:solidFill>
          <a:srgbClr val="FFFFFF"/>
        </a:solidFill>
      </p:bgPr>
    </p:bg>
    <p:spTree>
      <p:nvGrpSpPr>
        <p:cNvPr id="1" name=""/>
        <p:cNvGrpSpPr/>
        <p:nvPr/>
      </p:nvGrpSpPr>
      <p:grpSpPr>
        <a:xfrm>
          <a:off x="0" y="0"/>
          <a:ext cx="0" cy="0"/>
          <a:chOff x="0" y="0"/>
          <a:chExt cx="0" cy="0"/>
        </a:xfrm>
      </p:grpSpPr>
      <p:pic>
        <p:nvPicPr>
          <p:cNvPr id="2" name="Image 0" descr="C:\Users\Developer\Desktop\hirefromph\hirefromph\public\images\deck\icons\vet.png">    </p:cNvPr>
          <p:cNvPicPr>
            <a:picLocks noChangeAspect="1"/>
          </p:cNvPicPr>
          <p:nvPr/>
        </p:nvPicPr>
        <p:blipFill>
          <a:blip r:embed="rId1"/>
          <a:stretch>
            <a:fillRect/>
          </a:stretch>
        </p:blipFill>
        <p:spPr>
          <a:xfrm>
            <a:off x="762000" y="1016000"/>
            <a:ext cx="2286000" cy="2286000"/>
          </a:xfrm>
          <a:prstGeom prst="rect">
            <a:avLst/>
          </a:prstGeom>
        </p:spPr>
      </p:pic>
      <p:sp>
        <p:nvSpPr>
          <p:cNvPr id="3" name="Text 0"/>
          <p:cNvSpPr/>
          <p:nvPr/>
        </p:nvSpPr>
        <p:spPr>
          <a:xfrm>
            <a:off x="3556000" y="762000"/>
            <a:ext cx="7874000" cy="254000"/>
          </a:xfrm>
          <a:prstGeom prst="rect">
            <a:avLst/>
          </a:prstGeom>
          <a:noFill/>
          <a:ln/>
        </p:spPr>
        <p:txBody>
          <a:bodyPr wrap="square" lIns="0" tIns="0" rIns="0" bIns="0" rtlCol="0" anchor="ctr"/>
          <a:lstStyle/>
          <a:p>
            <a:pPr indent="0" marL="0">
              <a:buNone/>
            </a:pPr>
            <a:r>
              <a:rPr lang="en-US" sz="1400" b="1" spc="300" kern="0" dirty="0">
                <a:solidFill>
                  <a:srgbClr val="043882"/>
                </a:solidFill>
                <a:latin typeface="Inter" pitchFamily="34" charset="0"/>
                <a:ea typeface="Inter" pitchFamily="34" charset="-122"/>
                <a:cs typeface="Inter" pitchFamily="34" charset="-120"/>
              </a:rPr>
              <a:t>THE METHOD THIS SESSION DRILLS</a:t>
            </a:r>
            <a:endParaRPr lang="en-US" sz="1400" dirty="0"/>
          </a:p>
        </p:txBody>
      </p:sp>
      <p:sp>
        <p:nvSpPr>
          <p:cNvPr id="4" name="Text 1"/>
          <p:cNvSpPr/>
          <p:nvPr/>
        </p:nvSpPr>
        <p:spPr>
          <a:xfrm>
            <a:off x="3556000" y="1168400"/>
            <a:ext cx="7874000" cy="622808"/>
          </a:xfrm>
          <a:prstGeom prst="rect">
            <a:avLst/>
          </a:prstGeom>
          <a:noFill/>
          <a:ln/>
        </p:spPr>
        <p:txBody>
          <a:bodyPr wrap="square" lIns="0" tIns="0" rIns="0" bIns="0" rtlCol="0" anchor="t"/>
          <a:lstStyle/>
          <a:p>
            <a:pPr indent="0" marL="0">
              <a:lnSpc>
                <a:spcPct val="102000"/>
              </a:lnSpc>
              <a:buNone/>
            </a:pPr>
            <a:r>
              <a:rPr lang="en-US" sz="3800" b="1" dirty="0">
                <a:solidFill>
                  <a:srgbClr val="161A24"/>
                </a:solidFill>
                <a:latin typeface="Inter" pitchFamily="34" charset="0"/>
                <a:ea typeface="Inter" pitchFamily="34" charset="-122"/>
                <a:cs typeface="Inter" pitchFamily="34" charset="-120"/>
              </a:rPr>
              <a:t>VET: judge before you commit</a:t>
            </a:r>
            <a:endParaRPr lang="en-US" sz="3800" dirty="0"/>
          </a:p>
        </p:txBody>
      </p:sp>
      <p:sp>
        <p:nvSpPr>
          <p:cNvPr id="5" name="Text 2"/>
          <p:cNvSpPr/>
          <p:nvPr/>
        </p:nvSpPr>
        <p:spPr>
          <a:xfrm>
            <a:off x="3556000" y="1943608"/>
            <a:ext cx="7874000" cy="1208659"/>
          </a:xfrm>
          <a:prstGeom prst="rect">
            <a:avLst/>
          </a:prstGeom>
          <a:noFill/>
          <a:ln/>
        </p:spPr>
        <p:txBody>
          <a:bodyPr wrap="square" lIns="0" tIns="0" rIns="0" bIns="0" rtlCol="0" anchor="t"/>
          <a:lstStyle/>
          <a:p>
            <a:pPr marL="342900" indent="-342900">
              <a:spcAft>
                <a:spcPts val="1088"/>
              </a:spcAft>
              <a:buSzPct val="100000"/>
              <a:buFont typeface="+mj-lt"/>
              <a:buAutoNum type="arabicPeriod" startAt="1"/>
            </a:pPr>
            <a:r>
              <a:rPr lang="en-US" sz="1700" dirty="0">
                <a:solidFill>
                  <a:srgbClr val="161A24"/>
                </a:solidFill>
                <a:latin typeface="Inter" pitchFamily="34" charset="0"/>
                <a:ea typeface="Inter" pitchFamily="34" charset="-122"/>
                <a:cs typeface="Inter" pitchFamily="34" charset="-120"/>
              </a:rPr>
              <a:t>Ask who benefits if you believe this, and follow the incentive</a:t>
            </a:r>
            <a:endParaRPr lang="en-US" sz="1700" dirty="0"/>
          </a:p>
          <a:p>
            <a:pPr marL="342900" indent="-342900">
              <a:spcAft>
                <a:spcPts val="1088"/>
              </a:spcAft>
              <a:buSzPct val="100000"/>
              <a:buFont typeface="+mj-lt"/>
              <a:buAutoNum type="arabicPeriod" startAt="1"/>
            </a:pPr>
            <a:r>
              <a:rPr lang="en-US" sz="1700" dirty="0">
                <a:solidFill>
                  <a:srgbClr val="161A24"/>
                </a:solidFill>
                <a:latin typeface="Inter" pitchFamily="34" charset="0"/>
                <a:ea typeface="Inter" pitchFamily="34" charset="-122"/>
                <a:cs typeface="Inter" pitchFamily="34" charset="-120"/>
              </a:rPr>
              <a:t>Sort evidence from vibes, then ask whether it is still true</a:t>
            </a:r>
            <a:endParaRPr lang="en-US" sz="1700" dirty="0"/>
          </a:p>
          <a:p>
            <a:pPr marL="342900" indent="-342900">
              <a:spcAft>
                <a:spcPts val="1088"/>
              </a:spcAft>
              <a:buSzPct val="100000"/>
              <a:buFont typeface="+mj-lt"/>
              <a:buAutoNum type="arabicPeriod" startAt="1"/>
            </a:pPr>
            <a:r>
              <a:rPr lang="en-US" sz="1700" dirty="0">
                <a:solidFill>
                  <a:srgbClr val="161A24"/>
                </a:solidFill>
                <a:latin typeface="Inter" pitchFamily="34" charset="0"/>
                <a:ea typeface="Inter" pitchFamily="34" charset="-122"/>
                <a:cs typeface="Inter" pitchFamily="34" charset="-120"/>
              </a:rPr>
              <a:t>Run the red-flag check; any one hard stop ends it</a:t>
            </a:r>
            <a:endParaRPr lang="en-US" sz="1700" dirty="0"/>
          </a:p>
        </p:txBody>
      </p:sp>
      <p:sp>
        <p:nvSpPr>
          <p:cNvPr id="6" name="Shape 3"/>
          <p:cNvSpPr/>
          <p:nvPr/>
        </p:nvSpPr>
        <p:spPr>
          <a:xfrm>
            <a:off x="3556000" y="3203067"/>
            <a:ext cx="7874000" cy="762000"/>
          </a:xfrm>
          <a:prstGeom prst="rect">
            <a:avLst/>
          </a:prstGeom>
          <a:solidFill>
            <a:srgbClr val="EAF0FB"/>
          </a:solidFill>
          <a:ln w="12700">
            <a:solidFill>
              <a:srgbClr val="EAF0FB"/>
            </a:solidFill>
            <a:prstDash val="solid"/>
          </a:ln>
        </p:spPr>
      </p:sp>
      <p:sp>
        <p:nvSpPr>
          <p:cNvPr id="7" name="Text 4"/>
          <p:cNvSpPr/>
          <p:nvPr/>
        </p:nvSpPr>
        <p:spPr>
          <a:xfrm>
            <a:off x="3759200" y="3203067"/>
            <a:ext cx="7467600" cy="762000"/>
          </a:xfrm>
          <a:prstGeom prst="rect">
            <a:avLst/>
          </a:prstGeom>
          <a:noFill/>
          <a:ln/>
        </p:spPr>
        <p:txBody>
          <a:bodyPr wrap="square" lIns="0" tIns="0" rIns="0" bIns="0" rtlCol="0" anchor="ctr"/>
          <a:lstStyle/>
          <a:p>
            <a:pPr indent="0" marL="0">
              <a:buNone/>
            </a:pPr>
            <a:r>
              <a:rPr lang="en-US" sz="1500" dirty="0">
                <a:solidFill>
                  <a:srgbClr val="161A24"/>
                </a:solidFill>
                <a:latin typeface="Inter" pitchFamily="34" charset="0"/>
                <a:ea typeface="Inter" pitchFamily="34" charset="-122"/>
                <a:cs typeface="Inter" pitchFamily="34" charset="-120"/>
              </a:rPr>
              <a:t>Take any opportunity or course you are considering and run it through the four questions in writing. If you cannot produce evidence for it, do not act on it.</a:t>
            </a:r>
            <a:endParaRPr lang="en-US" sz="1500" dirty="0"/>
          </a:p>
        </p:txBody>
      </p:sp>
      <p:sp>
        <p:nvSpPr>
          <p:cNvPr id="8" name="Text 5"/>
          <p:cNvSpPr/>
          <p:nvPr/>
        </p:nvSpPr>
        <p:spPr>
          <a:xfrm>
            <a:off x="762000" y="6248400"/>
            <a:ext cx="9398000" cy="254000"/>
          </a:xfrm>
          <a:prstGeom prst="rect">
            <a:avLst/>
          </a:prstGeom>
          <a:noFill/>
          <a:ln/>
        </p:spPr>
        <p:txBody>
          <a:bodyPr wrap="square" lIns="0" tIns="0" rIns="0" bIns="0" rtlCol="0" anchor="ctr"/>
          <a:lstStyle/>
          <a:p>
            <a:pPr indent="0" marL="0">
              <a:buNone/>
            </a:pPr>
            <a:r>
              <a:rPr lang="en-US" sz="1100" dirty="0">
                <a:solidFill>
                  <a:srgbClr val="5F6575"/>
                </a:solidFill>
                <a:latin typeface="Inter" pitchFamily="34" charset="0"/>
                <a:ea typeface="Inter" pitchFamily="34" charset="-122"/>
                <a:cs typeface="Inter" pitchFamily="34" charset="-120"/>
              </a:rPr>
              <a:t>Hire From PH (hirefrom.ph), licensed CC BY 4.0</a:t>
            </a:r>
            <a:endParaRPr lang="en-US" sz="1100" dirty="0"/>
          </a:p>
        </p:txBody>
      </p:sp>
      <p:sp>
        <p:nvSpPr>
          <p:cNvPr id="9" name="Text 6"/>
          <p:cNvSpPr/>
          <p:nvPr/>
        </p:nvSpPr>
        <p:spPr>
          <a:xfrm>
            <a:off x="10160000" y="6248400"/>
            <a:ext cx="1270000" cy="254000"/>
          </a:xfrm>
          <a:prstGeom prst="rect">
            <a:avLst/>
          </a:prstGeom>
          <a:noFill/>
          <a:ln/>
        </p:spPr>
        <p:txBody>
          <a:bodyPr wrap="square" lIns="0" tIns="0" rIns="0" bIns="0" rtlCol="0" anchor="ctr"/>
          <a:lstStyle/>
          <a:p>
            <a:pPr algn="r" indent="0" marL="0">
              <a:buNone/>
            </a:pPr>
            <a:r>
              <a:rPr lang="en-US" sz="1100" dirty="0">
                <a:solidFill>
                  <a:srgbClr val="5F6575"/>
                </a:solidFill>
                <a:latin typeface="Inter" pitchFamily="34" charset="0"/>
                <a:ea typeface="Inter" pitchFamily="34" charset="-122"/>
                <a:cs typeface="Inter" pitchFamily="34" charset="-120"/>
              </a:rPr>
              <a:t>3 / 11</a:t>
            </a:r>
            <a:endParaRPr lang="en-US" sz="1100" dirty="0"/>
          </a:p>
        </p:txBody>
      </p:sp>
    </p:spTree>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name="Slide 4">
    <p:bg>
      <p:bgPr>
        <a:solidFill>
          <a:srgbClr val="F3F4F6"/>
        </a:solidFill>
      </p:bgPr>
    </p:bg>
    <p:spTree>
      <p:nvGrpSpPr>
        <p:cNvPr id="1" name=""/>
        <p:cNvGrpSpPr/>
        <p:nvPr/>
      </p:nvGrpSpPr>
      <p:grpSpPr>
        <a:xfrm>
          <a:off x="0" y="0"/>
          <a:ext cx="0" cy="0"/>
          <a:chOff x="0" y="0"/>
          <a:chExt cx="0" cy="0"/>
        </a:xfrm>
      </p:grpSpPr>
      <p:sp>
        <p:nvSpPr>
          <p:cNvPr id="2" name="Text 0"/>
          <p:cNvSpPr/>
          <p:nvPr/>
        </p:nvSpPr>
        <p:spPr>
          <a:xfrm>
            <a:off x="762000" y="762000"/>
            <a:ext cx="10668000" cy="254000"/>
          </a:xfrm>
          <a:prstGeom prst="rect">
            <a:avLst/>
          </a:prstGeom>
          <a:noFill/>
          <a:ln/>
        </p:spPr>
        <p:txBody>
          <a:bodyPr wrap="square" lIns="0" tIns="0" rIns="0" bIns="0" rtlCol="0" anchor="ctr"/>
          <a:lstStyle/>
          <a:p>
            <a:pPr indent="0" marL="0">
              <a:buNone/>
            </a:pPr>
            <a:r>
              <a:rPr lang="en-US" sz="1400" b="1" spc="300" kern="0" dirty="0">
                <a:solidFill>
                  <a:srgbClr val="043882"/>
                </a:solidFill>
                <a:latin typeface="Inter" pitchFamily="34" charset="0"/>
                <a:ea typeface="Inter" pitchFamily="34" charset="-122"/>
                <a:cs typeface="Inter" pitchFamily="34" charset="-120"/>
              </a:rPr>
              <a:t>THE CLOCK</a:t>
            </a:r>
            <a:endParaRPr lang="en-US" sz="1400" dirty="0"/>
          </a:p>
        </p:txBody>
      </p:sp>
      <p:sp>
        <p:nvSpPr>
          <p:cNvPr id="3" name="Text 1"/>
          <p:cNvSpPr/>
          <p:nvPr/>
        </p:nvSpPr>
        <p:spPr>
          <a:xfrm>
            <a:off x="762000" y="1168400"/>
            <a:ext cx="10668000" cy="622808"/>
          </a:xfrm>
          <a:prstGeom prst="rect">
            <a:avLst/>
          </a:prstGeom>
          <a:noFill/>
          <a:ln/>
        </p:spPr>
        <p:txBody>
          <a:bodyPr wrap="square" lIns="0" tIns="0" rIns="0" bIns="0" rtlCol="0" anchor="t"/>
          <a:lstStyle/>
          <a:p>
            <a:pPr indent="0" marL="0">
              <a:lnSpc>
                <a:spcPct val="102000"/>
              </a:lnSpc>
              <a:buNone/>
            </a:pPr>
            <a:r>
              <a:rPr lang="en-US" sz="3800" b="1" dirty="0">
                <a:solidFill>
                  <a:srgbClr val="161A24"/>
                </a:solidFill>
                <a:latin typeface="Inter" pitchFamily="34" charset="0"/>
                <a:ea typeface="Inter" pitchFamily="34" charset="-122"/>
                <a:cs typeface="Inter" pitchFamily="34" charset="-120"/>
              </a:rPr>
              <a:t>Sixty minutes, one opportunity each</a:t>
            </a:r>
            <a:endParaRPr lang="en-US" sz="3800" dirty="0"/>
          </a:p>
        </p:txBody>
      </p:sp>
      <p:sp>
        <p:nvSpPr>
          <p:cNvPr id="4" name="Text 2"/>
          <p:cNvSpPr/>
          <p:nvPr/>
        </p:nvSpPr>
        <p:spPr>
          <a:xfrm>
            <a:off x="762000" y="1943608"/>
            <a:ext cx="10668000" cy="1929765"/>
          </a:xfrm>
          <a:prstGeom prst="rect">
            <a:avLst/>
          </a:prstGeom>
          <a:noFill/>
          <a:ln/>
        </p:spPr>
        <p:txBody>
          <a:bodyPr wrap="square" lIns="0" tIns="0" rIns="0" bIns="0" rtlCol="0" anchor="t"/>
          <a:lstStyle/>
          <a:p>
            <a:pPr marL="355600" indent="-355600">
              <a:spcAft>
                <a:spcPts val="1088"/>
              </a:spcAft>
              <a:buSzPct val="100000"/>
              <a:buChar char="•"/>
            </a:pPr>
            <a:r>
              <a:rPr lang="en-US" sz="1700" dirty="0">
                <a:solidFill>
                  <a:srgbClr val="161A24"/>
                </a:solidFill>
                <a:latin typeface="Inter" pitchFamily="34" charset="0"/>
                <a:ea typeface="Inter" pitchFamily="34" charset="-122"/>
                <a:cs typeface="Inter" pitchFamily="34" charset="-120"/>
              </a:rPr>
              <a:t>15 min · Frame the cost of a fast yes, then put a real opportunity on the table</a:t>
            </a:r>
            <a:endParaRPr lang="en-US" sz="1700" dirty="0"/>
          </a:p>
          <a:p>
            <a:pPr marL="355600" indent="-355600">
              <a:spcAft>
                <a:spcPts val="1088"/>
              </a:spcAft>
              <a:buSzPct val="100000"/>
              <a:buChar char="•"/>
            </a:pPr>
            <a:r>
              <a:rPr lang="en-US" sz="1700" dirty="0">
                <a:solidFill>
                  <a:srgbClr val="161A24"/>
                </a:solidFill>
                <a:latin typeface="Inter" pitchFamily="34" charset="0"/>
                <a:ea typeface="Inter" pitchFamily="34" charset="-122"/>
                <a:cs typeface="Inter" pitchFamily="34" charset="-120"/>
              </a:rPr>
              <a:t>10 min · Who benefits if I believe this?</a:t>
            </a:r>
            <a:endParaRPr lang="en-US" sz="1700" dirty="0"/>
          </a:p>
          <a:p>
            <a:pPr marL="355600" indent="-355600">
              <a:spcAft>
                <a:spcPts val="1088"/>
              </a:spcAft>
              <a:buSzPct val="100000"/>
              <a:buChar char="•"/>
            </a:pPr>
            <a:r>
              <a:rPr lang="en-US" sz="1700" dirty="0">
                <a:solidFill>
                  <a:srgbClr val="161A24"/>
                </a:solidFill>
                <a:latin typeface="Inter" pitchFamily="34" charset="0"/>
                <a:ea typeface="Inter" pitchFamily="34" charset="-122"/>
                <a:cs typeface="Inter" pitchFamily="34" charset="-120"/>
              </a:rPr>
              <a:t>10 min · Evidence, or vibes?</a:t>
            </a:r>
            <a:endParaRPr lang="en-US" sz="1700" dirty="0"/>
          </a:p>
          <a:p>
            <a:pPr marL="355600" indent="-355600">
              <a:spcAft>
                <a:spcPts val="1088"/>
              </a:spcAft>
              <a:buSzPct val="100000"/>
              <a:buChar char="•"/>
            </a:pPr>
            <a:r>
              <a:rPr lang="en-US" sz="1700" dirty="0">
                <a:solidFill>
                  <a:srgbClr val="161A24"/>
                </a:solidFill>
                <a:latin typeface="Inter" pitchFamily="34" charset="0"/>
                <a:ea typeface="Inter" pitchFamily="34" charset="-122"/>
                <a:cs typeface="Inter" pitchFamily="34" charset="-120"/>
              </a:rPr>
              <a:t>10 min · Is it still true?</a:t>
            </a:r>
            <a:endParaRPr lang="en-US" sz="1700" dirty="0"/>
          </a:p>
          <a:p>
            <a:pPr marL="355600" indent="-355600">
              <a:spcAft>
                <a:spcPts val="1088"/>
              </a:spcAft>
              <a:buSzPct val="100000"/>
              <a:buChar char="•"/>
            </a:pPr>
            <a:r>
              <a:rPr lang="en-US" sz="1700" dirty="0">
                <a:solidFill>
                  <a:srgbClr val="161A24"/>
                </a:solidFill>
                <a:latin typeface="Inter" pitchFamily="34" charset="0"/>
                <a:ea typeface="Inter" pitchFamily="34" charset="-122"/>
                <a:cs typeface="Inter" pitchFamily="34" charset="-120"/>
              </a:rPr>
              <a:t>15 min · Run the red-flag pass, then verdict on paper</a:t>
            </a:r>
            <a:endParaRPr lang="en-US" sz="1700" dirty="0"/>
          </a:p>
        </p:txBody>
      </p:sp>
      <p:sp>
        <p:nvSpPr>
          <p:cNvPr id="5" name="Text 3"/>
          <p:cNvSpPr/>
          <p:nvPr/>
        </p:nvSpPr>
        <p:spPr>
          <a:xfrm>
            <a:off x="762000" y="6248400"/>
            <a:ext cx="9398000" cy="254000"/>
          </a:xfrm>
          <a:prstGeom prst="rect">
            <a:avLst/>
          </a:prstGeom>
          <a:noFill/>
          <a:ln/>
        </p:spPr>
        <p:txBody>
          <a:bodyPr wrap="square" lIns="0" tIns="0" rIns="0" bIns="0" rtlCol="0" anchor="ctr"/>
          <a:lstStyle/>
          <a:p>
            <a:pPr indent="0" marL="0">
              <a:buNone/>
            </a:pPr>
            <a:r>
              <a:rPr lang="en-US" sz="1100" dirty="0">
                <a:solidFill>
                  <a:srgbClr val="5F6575"/>
                </a:solidFill>
                <a:latin typeface="Inter" pitchFamily="34" charset="0"/>
                <a:ea typeface="Inter" pitchFamily="34" charset="-122"/>
                <a:cs typeface="Inter" pitchFamily="34" charset="-120"/>
              </a:rPr>
              <a:t>Hire From PH educators kit run-sheet · hirefrom.ph/educators</a:t>
            </a:r>
            <a:endParaRPr lang="en-US" sz="1100" dirty="0"/>
          </a:p>
        </p:txBody>
      </p:sp>
      <p:sp>
        <p:nvSpPr>
          <p:cNvPr id="6" name="Text 4"/>
          <p:cNvSpPr/>
          <p:nvPr/>
        </p:nvSpPr>
        <p:spPr>
          <a:xfrm>
            <a:off x="10160000" y="6248400"/>
            <a:ext cx="1270000" cy="254000"/>
          </a:xfrm>
          <a:prstGeom prst="rect">
            <a:avLst/>
          </a:prstGeom>
          <a:noFill/>
          <a:ln/>
        </p:spPr>
        <p:txBody>
          <a:bodyPr wrap="square" lIns="0" tIns="0" rIns="0" bIns="0" rtlCol="0" anchor="ctr"/>
          <a:lstStyle/>
          <a:p>
            <a:pPr algn="r" indent="0" marL="0">
              <a:buNone/>
            </a:pPr>
            <a:r>
              <a:rPr lang="en-US" sz="1100" dirty="0">
                <a:solidFill>
                  <a:srgbClr val="5F6575"/>
                </a:solidFill>
                <a:latin typeface="Inter" pitchFamily="34" charset="0"/>
                <a:ea typeface="Inter" pitchFamily="34" charset="-122"/>
                <a:cs typeface="Inter" pitchFamily="34" charset="-120"/>
              </a:rPr>
              <a:t>4 / 11</a:t>
            </a:r>
            <a:endParaRPr lang="en-US" sz="1100" dirty="0"/>
          </a:p>
        </p:txBody>
      </p:sp>
    </p:spTree>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name="Slide 5">
    <p:bg>
      <p:bgPr>
        <a:solidFill>
          <a:srgbClr val="F3F4F6"/>
        </a:solidFill>
      </p:bgPr>
    </p:bg>
    <p:spTree>
      <p:nvGrpSpPr>
        <p:cNvPr id="1" name=""/>
        <p:cNvGrpSpPr/>
        <p:nvPr/>
      </p:nvGrpSpPr>
      <p:grpSpPr>
        <a:xfrm>
          <a:off x="0" y="0"/>
          <a:ext cx="0" cy="0"/>
          <a:chOff x="0" y="0"/>
          <a:chExt cx="0" cy="0"/>
        </a:xfrm>
      </p:grpSpPr>
      <p:sp>
        <p:nvSpPr>
          <p:cNvPr id="2" name="Text 0"/>
          <p:cNvSpPr/>
          <p:nvPr/>
        </p:nvSpPr>
        <p:spPr>
          <a:xfrm>
            <a:off x="762000" y="762000"/>
            <a:ext cx="10668000" cy="254000"/>
          </a:xfrm>
          <a:prstGeom prst="rect">
            <a:avLst/>
          </a:prstGeom>
          <a:noFill/>
          <a:ln/>
        </p:spPr>
        <p:txBody>
          <a:bodyPr wrap="square" lIns="0" tIns="0" rIns="0" bIns="0" rtlCol="0" anchor="ctr"/>
          <a:lstStyle/>
          <a:p>
            <a:pPr indent="0" marL="0">
              <a:buNone/>
            </a:pPr>
            <a:r>
              <a:rPr lang="en-US" sz="1400" b="1" spc="300" kern="0" dirty="0">
                <a:solidFill>
                  <a:srgbClr val="043882"/>
                </a:solidFill>
                <a:latin typeface="Inter" pitchFamily="34" charset="0"/>
                <a:ea typeface="Inter" pitchFamily="34" charset="-122"/>
                <a:cs typeface="Inter" pitchFamily="34" charset="-120"/>
              </a:rPr>
              <a:t>THE BRIEF</a:t>
            </a:r>
            <a:endParaRPr lang="en-US" sz="1400" dirty="0"/>
          </a:p>
        </p:txBody>
      </p:sp>
      <p:sp>
        <p:nvSpPr>
          <p:cNvPr id="3" name="Text 1"/>
          <p:cNvSpPr/>
          <p:nvPr/>
        </p:nvSpPr>
        <p:spPr>
          <a:xfrm>
            <a:off x="762000" y="1168400"/>
            <a:ext cx="10668000" cy="622808"/>
          </a:xfrm>
          <a:prstGeom prst="rect">
            <a:avLst/>
          </a:prstGeom>
          <a:noFill/>
          <a:ln/>
        </p:spPr>
        <p:txBody>
          <a:bodyPr wrap="square" lIns="0" tIns="0" rIns="0" bIns="0" rtlCol="0" anchor="t"/>
          <a:lstStyle/>
          <a:p>
            <a:pPr indent="0" marL="0">
              <a:lnSpc>
                <a:spcPct val="102000"/>
              </a:lnSpc>
              <a:buNone/>
            </a:pPr>
            <a:r>
              <a:rPr lang="en-US" sz="3800" b="1" dirty="0">
                <a:solidFill>
                  <a:srgbClr val="161A24"/>
                </a:solidFill>
                <a:latin typeface="Inter" pitchFamily="34" charset="0"/>
                <a:ea typeface="Inter" pitchFamily="34" charset="-122"/>
                <a:cs typeface="Inter" pitchFamily="34" charset="-120"/>
              </a:rPr>
              <a:t>What you do in this room</a:t>
            </a:r>
            <a:endParaRPr lang="en-US" sz="3800" dirty="0"/>
          </a:p>
        </p:txBody>
      </p:sp>
      <p:sp>
        <p:nvSpPr>
          <p:cNvPr id="4" name="Text 2"/>
          <p:cNvSpPr/>
          <p:nvPr/>
        </p:nvSpPr>
        <p:spPr>
          <a:xfrm>
            <a:off x="762000" y="1943608"/>
            <a:ext cx="8255000" cy="1036320"/>
          </a:xfrm>
          <a:prstGeom prst="rect">
            <a:avLst/>
          </a:prstGeom>
          <a:noFill/>
          <a:ln/>
        </p:spPr>
        <p:txBody>
          <a:bodyPr wrap="square" lIns="0" tIns="0" rIns="0" bIns="0" rtlCol="0" anchor="t"/>
          <a:lstStyle/>
          <a:p>
            <a:pPr indent="0" marL="0">
              <a:lnSpc>
                <a:spcPct val="115000"/>
              </a:lnSpc>
              <a:buNone/>
            </a:pPr>
            <a:r>
              <a:rPr lang="en-US" sz="1800" dirty="0">
                <a:solidFill>
                  <a:srgbClr val="464C5C"/>
                </a:solidFill>
                <a:latin typeface="Inter" pitchFamily="34" charset="0"/>
                <a:ea typeface="Inter" pitchFamily="34" charset="-122"/>
                <a:cs typeface="Inter" pitchFamily="34" charset="-120"/>
              </a:rPr>
              <a:t>A circle or a horseshoe, one device each, and one real opportunity each, brought in advance. A live post beats any case study anyone could invent.</a:t>
            </a:r>
            <a:endParaRPr lang="en-US" sz="1800" dirty="0"/>
          </a:p>
        </p:txBody>
      </p:sp>
      <p:sp>
        <p:nvSpPr>
          <p:cNvPr id="5" name="Text 3"/>
          <p:cNvSpPr/>
          <p:nvPr/>
        </p:nvSpPr>
        <p:spPr>
          <a:xfrm>
            <a:off x="762000" y="3081528"/>
            <a:ext cx="10668000" cy="1860677"/>
          </a:xfrm>
          <a:prstGeom prst="rect">
            <a:avLst/>
          </a:prstGeom>
          <a:noFill/>
          <a:ln/>
        </p:spPr>
        <p:txBody>
          <a:bodyPr wrap="square" lIns="0" tIns="0" rIns="0" bIns="0" rtlCol="0" anchor="t"/>
          <a:lstStyle/>
          <a:p>
            <a:pPr marL="355600" indent="-355600">
              <a:spcAft>
                <a:spcPts val="1088"/>
              </a:spcAft>
              <a:buSzPct val="100000"/>
              <a:buChar char="•"/>
            </a:pPr>
            <a:r>
              <a:rPr lang="en-US" sz="1700" dirty="0">
                <a:solidFill>
                  <a:srgbClr val="161A24"/>
                </a:solidFill>
                <a:latin typeface="Inter" pitchFamily="34" charset="0"/>
                <a:ea typeface="Inter" pitchFamily="34" charset="-122"/>
                <a:cs typeface="Inter" pitchFamily="34" charset="-120"/>
              </a:rPr>
              <a:t>Name one thing you said yes to too quickly, in a single sentence; no shaming, no advice</a:t>
            </a:r>
            <a:endParaRPr lang="en-US" sz="1700" dirty="0"/>
          </a:p>
          <a:p>
            <a:pPr marL="355600" indent="-355600">
              <a:spcAft>
                <a:spcPts val="1088"/>
              </a:spcAft>
              <a:buSzPct val="100000"/>
              <a:buChar char="•"/>
            </a:pPr>
            <a:r>
              <a:rPr lang="en-US" sz="1700" dirty="0">
                <a:solidFill>
                  <a:srgbClr val="161A24"/>
                </a:solidFill>
                <a:latin typeface="Inter" pitchFamily="34" charset="0"/>
                <a:ea typeface="Inter" pitchFamily="34" charset="-122"/>
                <a:cs typeface="Inter" pitchFamily="34" charset="-120"/>
              </a:rPr>
              <a:t>Read your opportunity aloud, flat, without defending it: the work, the offer, the pay, the next step</a:t>
            </a:r>
            <a:endParaRPr lang="en-US" sz="1700" dirty="0"/>
          </a:p>
          <a:p>
            <a:pPr marL="355600" indent="-355600">
              <a:spcAft>
                <a:spcPts val="1088"/>
              </a:spcAft>
              <a:buSzPct val="100000"/>
              <a:buChar char="•"/>
            </a:pPr>
            <a:r>
              <a:rPr lang="en-US" sz="1700" dirty="0">
                <a:solidFill>
                  <a:srgbClr val="161A24"/>
                </a:solidFill>
                <a:latin typeface="Inter" pitchFamily="34" charset="0"/>
                <a:ea typeface="Inter" pitchFamily="34" charset="-122"/>
                <a:cs typeface="Inter" pitchFamily="34" charset="-120"/>
              </a:rPr>
              <a:t>Copy the four questions down the left of a page and leave room to write beside each one</a:t>
            </a:r>
            <a:endParaRPr lang="en-US" sz="1700" dirty="0"/>
          </a:p>
          <a:p>
            <a:pPr marL="355600" indent="-355600">
              <a:spcAft>
                <a:spcPts val="1088"/>
              </a:spcAft>
              <a:buSzPct val="100000"/>
              <a:buChar char="•"/>
            </a:pPr>
            <a:r>
              <a:rPr lang="en-US" sz="1700" dirty="0">
                <a:solidFill>
                  <a:srgbClr val="161A24"/>
                </a:solidFill>
                <a:latin typeface="Inter" pitchFamily="34" charset="0"/>
                <a:ea typeface="Inter" pitchFamily="34" charset="-122"/>
                <a:cs typeface="Inter" pitchFamily="34" charset="-120"/>
              </a:rPr>
              <a:t>If you forgot to bring one, take your partner's post and attack it</a:t>
            </a:r>
            <a:endParaRPr lang="en-US" sz="1700" dirty="0"/>
          </a:p>
        </p:txBody>
      </p:sp>
      <p:sp>
        <p:nvSpPr>
          <p:cNvPr id="6" name="Text 4"/>
          <p:cNvSpPr/>
          <p:nvPr/>
        </p:nvSpPr>
        <p:spPr>
          <a:xfrm>
            <a:off x="762000" y="6248400"/>
            <a:ext cx="9398000" cy="254000"/>
          </a:xfrm>
          <a:prstGeom prst="rect">
            <a:avLst/>
          </a:prstGeom>
          <a:noFill/>
          <a:ln/>
        </p:spPr>
        <p:txBody>
          <a:bodyPr wrap="square" lIns="0" tIns="0" rIns="0" bIns="0" rtlCol="0" anchor="ctr"/>
          <a:lstStyle/>
          <a:p>
            <a:pPr indent="0" marL="0">
              <a:buNone/>
            </a:pPr>
            <a:r>
              <a:rPr lang="en-US" sz="1100" dirty="0">
                <a:solidFill>
                  <a:srgbClr val="5F6575"/>
                </a:solidFill>
                <a:latin typeface="Inter" pitchFamily="34" charset="0"/>
                <a:ea typeface="Inter" pitchFamily="34" charset="-122"/>
                <a:cs typeface="Inter" pitchFamily="34" charset="-120"/>
              </a:rPr>
              <a:t>Hire From PH (hirefrom.ph), licensed CC BY 4.0</a:t>
            </a:r>
            <a:endParaRPr lang="en-US" sz="1100" dirty="0"/>
          </a:p>
        </p:txBody>
      </p:sp>
      <p:sp>
        <p:nvSpPr>
          <p:cNvPr id="7" name="Text 5"/>
          <p:cNvSpPr/>
          <p:nvPr/>
        </p:nvSpPr>
        <p:spPr>
          <a:xfrm>
            <a:off x="10160000" y="6248400"/>
            <a:ext cx="1270000" cy="254000"/>
          </a:xfrm>
          <a:prstGeom prst="rect">
            <a:avLst/>
          </a:prstGeom>
          <a:noFill/>
          <a:ln/>
        </p:spPr>
        <p:txBody>
          <a:bodyPr wrap="square" lIns="0" tIns="0" rIns="0" bIns="0" rtlCol="0" anchor="ctr"/>
          <a:lstStyle/>
          <a:p>
            <a:pPr algn="r" indent="0" marL="0">
              <a:buNone/>
            </a:pPr>
            <a:r>
              <a:rPr lang="en-US" sz="1100" dirty="0">
                <a:solidFill>
                  <a:srgbClr val="5F6575"/>
                </a:solidFill>
                <a:latin typeface="Inter" pitchFamily="34" charset="0"/>
                <a:ea typeface="Inter" pitchFamily="34" charset="-122"/>
                <a:cs typeface="Inter" pitchFamily="34" charset="-120"/>
              </a:rPr>
              <a:t>5 / 11</a:t>
            </a:r>
            <a:endParaRPr lang="en-US" sz="1100" dirty="0"/>
          </a:p>
        </p:txBody>
      </p:sp>
    </p:spTree>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name="Slide 6">
    <p:bg>
      <p:bgPr>
        <a:solidFill>
          <a:srgbClr val="F3F4F6"/>
        </a:solidFill>
      </p:bgPr>
    </p:bg>
    <p:spTree>
      <p:nvGrpSpPr>
        <p:cNvPr id="1" name=""/>
        <p:cNvGrpSpPr/>
        <p:nvPr/>
      </p:nvGrpSpPr>
      <p:grpSpPr>
        <a:xfrm>
          <a:off x="0" y="0"/>
          <a:ext cx="0" cy="0"/>
          <a:chOff x="0" y="0"/>
          <a:chExt cx="0" cy="0"/>
        </a:xfrm>
      </p:grpSpPr>
      <p:sp>
        <p:nvSpPr>
          <p:cNvPr id="2" name="Text 0"/>
          <p:cNvSpPr/>
          <p:nvPr/>
        </p:nvSpPr>
        <p:spPr>
          <a:xfrm>
            <a:off x="762000" y="762000"/>
            <a:ext cx="10668000" cy="254000"/>
          </a:xfrm>
          <a:prstGeom prst="rect">
            <a:avLst/>
          </a:prstGeom>
          <a:noFill/>
          <a:ln/>
        </p:spPr>
        <p:txBody>
          <a:bodyPr wrap="square" lIns="0" tIns="0" rIns="0" bIns="0" rtlCol="0" anchor="ctr"/>
          <a:lstStyle/>
          <a:p>
            <a:pPr indent="0" marL="0">
              <a:buNone/>
            </a:pPr>
            <a:r>
              <a:rPr lang="en-US" sz="1400" b="1" spc="300" kern="0" dirty="0">
                <a:solidFill>
                  <a:srgbClr val="043882"/>
                </a:solidFill>
                <a:latin typeface="Inter" pitchFamily="34" charset="0"/>
                <a:ea typeface="Inter" pitchFamily="34" charset="-122"/>
                <a:cs typeface="Inter" pitchFamily="34" charset="-120"/>
              </a:rPr>
              <a:t>THE DRILL</a:t>
            </a:r>
            <a:endParaRPr lang="en-US" sz="1400" dirty="0"/>
          </a:p>
        </p:txBody>
      </p:sp>
      <p:sp>
        <p:nvSpPr>
          <p:cNvPr id="3" name="Shape 1"/>
          <p:cNvSpPr/>
          <p:nvPr/>
        </p:nvSpPr>
        <p:spPr>
          <a:xfrm>
            <a:off x="10160000" y="711200"/>
            <a:ext cx="1270000" cy="355600"/>
          </a:xfrm>
          <a:prstGeom prst="roundRect">
            <a:avLst>
              <a:gd name="adj" fmla="val 48857"/>
            </a:avLst>
          </a:prstGeom>
          <a:solidFill>
            <a:srgbClr val="043882"/>
          </a:solidFill>
          <a:ln w="12700">
            <a:solidFill>
              <a:srgbClr val="043882"/>
            </a:solidFill>
            <a:prstDash val="solid"/>
          </a:ln>
        </p:spPr>
      </p:sp>
      <p:sp>
        <p:nvSpPr>
          <p:cNvPr id="4" name="Text 2"/>
          <p:cNvSpPr/>
          <p:nvPr/>
        </p:nvSpPr>
        <p:spPr>
          <a:xfrm>
            <a:off x="10160000" y="711200"/>
            <a:ext cx="1270000" cy="355600"/>
          </a:xfrm>
          <a:prstGeom prst="rect">
            <a:avLst/>
          </a:prstGeom>
          <a:noFill/>
          <a:ln/>
        </p:spPr>
        <p:txBody>
          <a:bodyPr wrap="square" lIns="0" tIns="0" rIns="0" bIns="0" rtlCol="0" anchor="ctr"/>
          <a:lstStyle/>
          <a:p>
            <a:pPr algn="ctr" indent="0" marL="0">
              <a:buNone/>
            </a:pPr>
            <a:r>
              <a:rPr lang="en-US" sz="1400" b="1" dirty="0">
                <a:solidFill>
                  <a:srgbClr val="FFFFFF"/>
                </a:solidFill>
                <a:latin typeface="Inter" pitchFamily="34" charset="0"/>
                <a:ea typeface="Inter" pitchFamily="34" charset="-122"/>
                <a:cs typeface="Inter" pitchFamily="34" charset="-120"/>
              </a:rPr>
              <a:t>10 min</a:t>
            </a:r>
            <a:endParaRPr lang="en-US" sz="1400" dirty="0"/>
          </a:p>
        </p:txBody>
      </p:sp>
      <p:sp>
        <p:nvSpPr>
          <p:cNvPr id="5" name="Text 3"/>
          <p:cNvSpPr/>
          <p:nvPr/>
        </p:nvSpPr>
        <p:spPr>
          <a:xfrm>
            <a:off x="762000" y="1168400"/>
            <a:ext cx="10668000" cy="1144016"/>
          </a:xfrm>
          <a:prstGeom prst="rect">
            <a:avLst/>
          </a:prstGeom>
          <a:noFill/>
          <a:ln/>
        </p:spPr>
        <p:txBody>
          <a:bodyPr wrap="square" lIns="0" tIns="0" rIns="0" bIns="0" rtlCol="0" anchor="t"/>
          <a:lstStyle/>
          <a:p>
            <a:pPr indent="0" marL="0">
              <a:lnSpc>
                <a:spcPct val="102000"/>
              </a:lnSpc>
              <a:buNone/>
            </a:pPr>
            <a:r>
              <a:rPr lang="en-US" sz="3800" b="1" dirty="0">
                <a:solidFill>
                  <a:srgbClr val="161A24"/>
                </a:solidFill>
                <a:latin typeface="Inter" pitchFamily="34" charset="0"/>
                <a:ea typeface="Inter" pitchFamily="34" charset="-122"/>
                <a:cs typeface="Inter" pitchFamily="34" charset="-120"/>
              </a:rPr>
              <a:t>Four questions, in writing, on your own post</a:t>
            </a:r>
            <a:endParaRPr lang="en-US" sz="3800" dirty="0"/>
          </a:p>
        </p:txBody>
      </p:sp>
      <p:sp>
        <p:nvSpPr>
          <p:cNvPr id="6" name="Text 4"/>
          <p:cNvSpPr/>
          <p:nvPr/>
        </p:nvSpPr>
        <p:spPr>
          <a:xfrm>
            <a:off x="762000" y="2464816"/>
            <a:ext cx="8255000" cy="716280"/>
          </a:xfrm>
          <a:prstGeom prst="rect">
            <a:avLst/>
          </a:prstGeom>
          <a:noFill/>
          <a:ln/>
        </p:spPr>
        <p:txBody>
          <a:bodyPr wrap="square" lIns="0" tIns="0" rIns="0" bIns="0" rtlCol="0" anchor="t"/>
          <a:lstStyle/>
          <a:p>
            <a:pPr indent="0" marL="0">
              <a:lnSpc>
                <a:spcPct val="115000"/>
              </a:lnSpc>
              <a:buNone/>
            </a:pPr>
            <a:r>
              <a:rPr lang="en-US" sz="1800" dirty="0">
                <a:solidFill>
                  <a:srgbClr val="464C5C"/>
                </a:solidFill>
                <a:latin typeface="Inter" pitchFamily="34" charset="0"/>
                <a:ea typeface="Inter" pitchFamily="34" charset="-122"/>
                <a:cs typeface="Inter" pitchFamily="34" charset="-120"/>
              </a:rPr>
              <a:t>Each question gets its own block and its own line on the page. Nothing moves to the next question until the answer is written down.</a:t>
            </a:r>
            <a:endParaRPr lang="en-US" sz="1800" dirty="0"/>
          </a:p>
        </p:txBody>
      </p:sp>
      <p:sp>
        <p:nvSpPr>
          <p:cNvPr id="7" name="Text 5"/>
          <p:cNvSpPr/>
          <p:nvPr/>
        </p:nvSpPr>
        <p:spPr>
          <a:xfrm>
            <a:off x="762000" y="3282696"/>
            <a:ext cx="10668000" cy="2221230"/>
          </a:xfrm>
          <a:prstGeom prst="rect">
            <a:avLst/>
          </a:prstGeom>
          <a:noFill/>
          <a:ln/>
        </p:spPr>
        <p:txBody>
          <a:bodyPr wrap="square" lIns="0" tIns="0" rIns="0" bIns="0" rtlCol="0" anchor="t"/>
          <a:lstStyle/>
          <a:p>
            <a:pPr marL="342900" indent="-342900">
              <a:spcAft>
                <a:spcPts val="1088"/>
              </a:spcAft>
              <a:buSzPct val="100000"/>
              <a:buFont typeface="+mj-lt"/>
              <a:buAutoNum type="arabicPeriod" startAt="1"/>
            </a:pPr>
            <a:r>
              <a:rPr lang="en-US" sz="1700" dirty="0">
                <a:solidFill>
                  <a:srgbClr val="161A24"/>
                </a:solidFill>
                <a:latin typeface="Inter" pitchFamily="34" charset="0"/>
                <a:ea typeface="Inter" pitchFamily="34" charset="-122"/>
                <a:cs typeface="Inter" pitchFamily="34" charset="-120"/>
              </a:rPr>
              <a:t>Write who profits if you say yes, and what evidence exists independent of that person</a:t>
            </a:r>
            <a:endParaRPr lang="en-US" sz="1700" dirty="0"/>
          </a:p>
          <a:p>
            <a:pPr marL="342900" indent="-342900">
              <a:spcAft>
                <a:spcPts val="1088"/>
              </a:spcAft>
              <a:buSzPct val="100000"/>
              <a:buFont typeface="+mj-lt"/>
              <a:buAutoNum type="arabicPeriod" startAt="1"/>
            </a:pPr>
            <a:r>
              <a:rPr lang="en-US" sz="1700" dirty="0">
                <a:solidFill>
                  <a:srgbClr val="161A24"/>
                </a:solidFill>
                <a:latin typeface="Inter" pitchFamily="34" charset="0"/>
                <a:ea typeface="Inter" pitchFamily="34" charset="-122"/>
                <a:cs typeface="Inter" pitchFamily="34" charset="-120"/>
              </a:rPr>
              <a:t>Sort your post's claims into two columns: checkable on one side, confident on the other</a:t>
            </a:r>
            <a:endParaRPr lang="en-US" sz="1700" dirty="0"/>
          </a:p>
          <a:p>
            <a:pPr marL="342900" indent="-342900">
              <a:spcAft>
                <a:spcPts val="1088"/>
              </a:spcAft>
              <a:buSzPct val="100000"/>
              <a:buFont typeface="+mj-lt"/>
              <a:buAutoNum type="arabicPeriod" startAt="1"/>
            </a:pPr>
            <a:r>
              <a:rPr lang="en-US" sz="1700" dirty="0">
                <a:solidFill>
                  <a:srgbClr val="161A24"/>
                </a:solidFill>
                <a:latin typeface="Inter" pitchFamily="34" charset="0"/>
                <a:ea typeface="Inter" pitchFamily="34" charset="-122"/>
                <a:cs typeface="Inter" pitchFamily="34" charset="-120"/>
              </a:rPr>
              <a:t>Date every claim you can; mark the undated as unverified, not false, and note where you would date it</a:t>
            </a:r>
            <a:endParaRPr lang="en-US" sz="1700" dirty="0"/>
          </a:p>
          <a:p>
            <a:pPr marL="342900" indent="-342900">
              <a:spcAft>
                <a:spcPts val="1088"/>
              </a:spcAft>
              <a:buSzPct val="100000"/>
              <a:buFont typeface="+mj-lt"/>
              <a:buAutoNum type="arabicPeriod" startAt="1"/>
            </a:pPr>
            <a:r>
              <a:rPr lang="en-US" sz="1700" dirty="0">
                <a:solidFill>
                  <a:srgbClr val="161A24"/>
                </a:solidFill>
                <a:latin typeface="Inter" pitchFamily="34" charset="0"/>
                <a:ea typeface="Inter" pitchFamily="34" charset="-122"/>
                <a:cs typeface="Inter" pitchFamily="34" charset="-120"/>
              </a:rPr>
              <a:t>Score the post against the red flags; any hard stop ends it, with no negotiation</a:t>
            </a:r>
            <a:endParaRPr lang="en-US" sz="1700" dirty="0"/>
          </a:p>
          <a:p>
            <a:pPr marL="342900" indent="-342900">
              <a:spcAft>
                <a:spcPts val="1088"/>
              </a:spcAft>
              <a:buSzPct val="100000"/>
              <a:buFont typeface="+mj-lt"/>
              <a:buAutoNum type="arabicPeriod" startAt="1"/>
            </a:pPr>
            <a:r>
              <a:rPr lang="en-US" sz="1700" dirty="0">
                <a:solidFill>
                  <a:srgbClr val="161A24"/>
                </a:solidFill>
                <a:latin typeface="Inter" pitchFamily="34" charset="0"/>
                <a:ea typeface="Inter" pitchFamily="34" charset="-122"/>
                <a:cs typeface="Inter" pitchFamily="34" charset="-120"/>
              </a:rPr>
              <a:t>Write a one-line verdict: proceed, pause and verify one thing by a date, or stop</a:t>
            </a:r>
            <a:endParaRPr lang="en-US" sz="1700" dirty="0"/>
          </a:p>
        </p:txBody>
      </p:sp>
      <p:sp>
        <p:nvSpPr>
          <p:cNvPr id="8" name="Text 6"/>
          <p:cNvSpPr/>
          <p:nvPr/>
        </p:nvSpPr>
        <p:spPr>
          <a:xfrm>
            <a:off x="762000" y="6248400"/>
            <a:ext cx="9398000" cy="254000"/>
          </a:xfrm>
          <a:prstGeom prst="rect">
            <a:avLst/>
          </a:prstGeom>
          <a:noFill/>
          <a:ln/>
        </p:spPr>
        <p:txBody>
          <a:bodyPr wrap="square" lIns="0" tIns="0" rIns="0" bIns="0" rtlCol="0" anchor="ctr"/>
          <a:lstStyle/>
          <a:p>
            <a:pPr indent="0" marL="0">
              <a:buNone/>
            </a:pPr>
            <a:r>
              <a:rPr lang="en-US" sz="1100" dirty="0">
                <a:solidFill>
                  <a:srgbClr val="5F6575"/>
                </a:solidFill>
                <a:latin typeface="Inter" pitchFamily="34" charset="0"/>
                <a:ea typeface="Inter" pitchFamily="34" charset="-122"/>
                <a:cs typeface="Inter" pitchFamily="34" charset="-120"/>
              </a:rPr>
              <a:t>Hire From PH (hirefrom.ph), licensed CC BY 4.0</a:t>
            </a:r>
            <a:endParaRPr lang="en-US" sz="1100" dirty="0"/>
          </a:p>
        </p:txBody>
      </p:sp>
      <p:sp>
        <p:nvSpPr>
          <p:cNvPr id="9" name="Text 7"/>
          <p:cNvSpPr/>
          <p:nvPr/>
        </p:nvSpPr>
        <p:spPr>
          <a:xfrm>
            <a:off x="10160000" y="6248400"/>
            <a:ext cx="1270000" cy="254000"/>
          </a:xfrm>
          <a:prstGeom prst="rect">
            <a:avLst/>
          </a:prstGeom>
          <a:noFill/>
          <a:ln/>
        </p:spPr>
        <p:txBody>
          <a:bodyPr wrap="square" lIns="0" tIns="0" rIns="0" bIns="0" rtlCol="0" anchor="ctr"/>
          <a:lstStyle/>
          <a:p>
            <a:pPr algn="r" indent="0" marL="0">
              <a:buNone/>
            </a:pPr>
            <a:r>
              <a:rPr lang="en-US" sz="1100" dirty="0">
                <a:solidFill>
                  <a:srgbClr val="5F6575"/>
                </a:solidFill>
                <a:latin typeface="Inter" pitchFamily="34" charset="0"/>
                <a:ea typeface="Inter" pitchFamily="34" charset="-122"/>
                <a:cs typeface="Inter" pitchFamily="34" charset="-120"/>
              </a:rPr>
              <a:t>6 / 11</a:t>
            </a:r>
            <a:endParaRPr lang="en-US" sz="1100" dirty="0"/>
          </a:p>
        </p:txBody>
      </p:sp>
    </p:spTree>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name="Slide 7">
    <p:bg>
      <p:bgPr>
        <a:solidFill>
          <a:srgbClr val="F3F4F6"/>
        </a:solidFill>
      </p:bgPr>
    </p:bg>
    <p:spTree>
      <p:nvGrpSpPr>
        <p:cNvPr id="1" name=""/>
        <p:cNvGrpSpPr/>
        <p:nvPr/>
      </p:nvGrpSpPr>
      <p:grpSpPr>
        <a:xfrm>
          <a:off x="0" y="0"/>
          <a:ext cx="0" cy="0"/>
          <a:chOff x="0" y="0"/>
          <a:chExt cx="0" cy="0"/>
        </a:xfrm>
      </p:grpSpPr>
      <p:sp>
        <p:nvSpPr>
          <p:cNvPr id="2" name="Text 0"/>
          <p:cNvSpPr/>
          <p:nvPr/>
        </p:nvSpPr>
        <p:spPr>
          <a:xfrm>
            <a:off x="762000" y="762000"/>
            <a:ext cx="10668000" cy="254000"/>
          </a:xfrm>
          <a:prstGeom prst="rect">
            <a:avLst/>
          </a:prstGeom>
          <a:noFill/>
          <a:ln/>
        </p:spPr>
        <p:txBody>
          <a:bodyPr wrap="square" lIns="0" tIns="0" rIns="0" bIns="0" rtlCol="0" anchor="ctr"/>
          <a:lstStyle/>
          <a:p>
            <a:pPr indent="0" marL="0">
              <a:buNone/>
            </a:pPr>
            <a:r>
              <a:rPr lang="en-US" sz="1400" b="1" spc="300" kern="0" dirty="0">
                <a:solidFill>
                  <a:srgbClr val="043882"/>
                </a:solidFill>
                <a:latin typeface="Inter" pitchFamily="34" charset="0"/>
                <a:ea typeface="Inter" pitchFamily="34" charset="-122"/>
                <a:cs typeface="Inter" pitchFamily="34" charset="-120"/>
              </a:rPr>
              <a:t>DEBRIEF</a:t>
            </a:r>
            <a:endParaRPr lang="en-US" sz="1400" dirty="0"/>
          </a:p>
        </p:txBody>
      </p:sp>
      <p:sp>
        <p:nvSpPr>
          <p:cNvPr id="3" name="Text 1"/>
          <p:cNvSpPr/>
          <p:nvPr/>
        </p:nvSpPr>
        <p:spPr>
          <a:xfrm>
            <a:off x="762000" y="1168400"/>
            <a:ext cx="10668000" cy="622808"/>
          </a:xfrm>
          <a:prstGeom prst="rect">
            <a:avLst/>
          </a:prstGeom>
          <a:noFill/>
          <a:ln/>
        </p:spPr>
        <p:txBody>
          <a:bodyPr wrap="square" lIns="0" tIns="0" rIns="0" bIns="0" rtlCol="0" anchor="t"/>
          <a:lstStyle/>
          <a:p>
            <a:pPr indent="0" marL="0">
              <a:lnSpc>
                <a:spcPct val="102000"/>
              </a:lnSpc>
              <a:buNone/>
            </a:pPr>
            <a:r>
              <a:rPr lang="en-US" sz="3800" b="1" dirty="0">
                <a:solidFill>
                  <a:srgbClr val="161A24"/>
                </a:solidFill>
                <a:latin typeface="Inter" pitchFamily="34" charset="0"/>
                <a:ea typeface="Inter" pitchFamily="34" charset="-122"/>
                <a:cs typeface="Inter" pitchFamily="34" charset="-120"/>
              </a:rPr>
              <a:t>Questions for the room</a:t>
            </a:r>
            <a:endParaRPr lang="en-US" sz="3800" dirty="0"/>
          </a:p>
        </p:txBody>
      </p:sp>
      <p:sp>
        <p:nvSpPr>
          <p:cNvPr id="4" name="Text 2"/>
          <p:cNvSpPr/>
          <p:nvPr/>
        </p:nvSpPr>
        <p:spPr>
          <a:xfrm>
            <a:off x="762000" y="1943608"/>
            <a:ext cx="10668000" cy="2804160"/>
          </a:xfrm>
          <a:prstGeom prst="rect">
            <a:avLst/>
          </a:prstGeom>
          <a:noFill/>
          <a:ln/>
        </p:spPr>
        <p:txBody>
          <a:bodyPr wrap="square" lIns="0" tIns="0" rIns="0" bIns="0" rtlCol="0" anchor="t"/>
          <a:lstStyle/>
          <a:p>
            <a:pPr marL="355600" indent="-355600">
              <a:spcAft>
                <a:spcPts val="1088"/>
              </a:spcAft>
              <a:buSzPct val="100000"/>
              <a:buChar char="•"/>
            </a:pPr>
            <a:r>
              <a:rPr lang="en-US" sz="1700" dirty="0">
                <a:solidFill>
                  <a:srgbClr val="161A24"/>
                </a:solidFill>
                <a:latin typeface="Inter" pitchFamily="34" charset="0"/>
                <a:ea typeface="Inter" pitchFamily="34" charset="-122"/>
                <a:cs typeface="Inter" pitchFamily="34" charset="-120"/>
              </a:rPr>
              <a:t>What would you need to see to change your verdict? If nothing would, you are defending, not vetting.</a:t>
            </a:r>
            <a:endParaRPr lang="en-US" sz="1700" dirty="0"/>
          </a:p>
          <a:p>
            <a:pPr marL="355600" indent="-355600">
              <a:spcAft>
                <a:spcPts val="1088"/>
              </a:spcAft>
              <a:buSzPct val="100000"/>
              <a:buChar char="•"/>
            </a:pPr>
            <a:r>
              <a:rPr lang="en-US" sz="1700" dirty="0">
                <a:solidFill>
                  <a:srgbClr val="161A24"/>
                </a:solidFill>
                <a:latin typeface="Inter" pitchFamily="34" charset="0"/>
                <a:ea typeface="Inter" pitchFamily="34" charset="-122"/>
                <a:cs typeface="Inter" pitchFamily="34" charset="-120"/>
              </a:rPr>
              <a:t>Who told you this was a good opportunity, and what do they get if you agree?</a:t>
            </a:r>
            <a:endParaRPr lang="en-US" sz="1700" dirty="0"/>
          </a:p>
          <a:p>
            <a:pPr marL="355600" indent="-355600">
              <a:spcAft>
                <a:spcPts val="1088"/>
              </a:spcAft>
              <a:buSzPct val="100000"/>
              <a:buChar char="•"/>
            </a:pPr>
            <a:r>
              <a:rPr lang="en-US" sz="1700" dirty="0">
                <a:solidFill>
                  <a:srgbClr val="161A24"/>
                </a:solidFill>
                <a:latin typeface="Inter" pitchFamily="34" charset="0"/>
                <a:ea typeface="Inter" pitchFamily="34" charset="-122"/>
                <a:cs typeface="Inter" pitchFamily="34" charset="-120"/>
              </a:rPr>
              <a:t>Which is more expensive: losing a real chance because you checked, or losing three weeks to one you did not?</a:t>
            </a:r>
            <a:endParaRPr lang="en-US" sz="1700" dirty="0"/>
          </a:p>
          <a:p>
            <a:pPr marL="355600" indent="-355600">
              <a:spcAft>
                <a:spcPts val="1088"/>
              </a:spcAft>
              <a:buSzPct val="100000"/>
              <a:buChar char="•"/>
            </a:pPr>
            <a:r>
              <a:rPr lang="en-US" sz="1700" dirty="0">
                <a:solidFill>
                  <a:srgbClr val="161A24"/>
                </a:solidFill>
                <a:latin typeface="Inter" pitchFamily="34" charset="0"/>
                <a:ea typeface="Inter" pitchFamily="34" charset="-122"/>
                <a:cs typeface="Inter" pitchFamily="34" charset="-120"/>
              </a:rPr>
              <a:t>Why does urgency beat every other flag on the list?</a:t>
            </a:r>
            <a:endParaRPr lang="en-US" sz="1700" dirty="0"/>
          </a:p>
          <a:p>
            <a:pPr marL="355600" indent="-355600">
              <a:spcAft>
                <a:spcPts val="1088"/>
              </a:spcAft>
              <a:buSzPct val="100000"/>
              <a:buChar char="•"/>
            </a:pPr>
            <a:r>
              <a:rPr lang="en-US" sz="1700" dirty="0">
                <a:solidFill>
                  <a:srgbClr val="161A24"/>
                </a:solidFill>
                <a:latin typeface="Inter" pitchFamily="34" charset="0"/>
                <a:ea typeface="Inter" pitchFamily="34" charset="-122"/>
                <a:cs typeface="Inter" pitchFamily="34" charset="-120"/>
              </a:rPr>
              <a:t>What is the one flag you would still talk yourself past? Say it out loud so the room can hold you to it.</a:t>
            </a:r>
            <a:endParaRPr lang="en-US" sz="1700" dirty="0"/>
          </a:p>
        </p:txBody>
      </p:sp>
      <p:sp>
        <p:nvSpPr>
          <p:cNvPr id="5" name="Text 3"/>
          <p:cNvSpPr/>
          <p:nvPr/>
        </p:nvSpPr>
        <p:spPr>
          <a:xfrm>
            <a:off x="762000" y="6248400"/>
            <a:ext cx="9398000" cy="254000"/>
          </a:xfrm>
          <a:prstGeom prst="rect">
            <a:avLst/>
          </a:prstGeom>
          <a:noFill/>
          <a:ln/>
        </p:spPr>
        <p:txBody>
          <a:bodyPr wrap="square" lIns="0" tIns="0" rIns="0" bIns="0" rtlCol="0" anchor="ctr"/>
          <a:lstStyle/>
          <a:p>
            <a:pPr indent="0" marL="0">
              <a:buNone/>
            </a:pPr>
            <a:r>
              <a:rPr lang="en-US" sz="1100" dirty="0">
                <a:solidFill>
                  <a:srgbClr val="5F6575"/>
                </a:solidFill>
                <a:latin typeface="Inter" pitchFamily="34" charset="0"/>
                <a:ea typeface="Inter" pitchFamily="34" charset="-122"/>
                <a:cs typeface="Inter" pitchFamily="34" charset="-120"/>
              </a:rPr>
              <a:t>Hire From PH (hirefrom.ph), licensed CC BY 4.0</a:t>
            </a:r>
            <a:endParaRPr lang="en-US" sz="1100" dirty="0"/>
          </a:p>
        </p:txBody>
      </p:sp>
      <p:sp>
        <p:nvSpPr>
          <p:cNvPr id="6" name="Text 4"/>
          <p:cNvSpPr/>
          <p:nvPr/>
        </p:nvSpPr>
        <p:spPr>
          <a:xfrm>
            <a:off x="10160000" y="6248400"/>
            <a:ext cx="1270000" cy="254000"/>
          </a:xfrm>
          <a:prstGeom prst="rect">
            <a:avLst/>
          </a:prstGeom>
          <a:noFill/>
          <a:ln/>
        </p:spPr>
        <p:txBody>
          <a:bodyPr wrap="square" lIns="0" tIns="0" rIns="0" bIns="0" rtlCol="0" anchor="ctr"/>
          <a:lstStyle/>
          <a:p>
            <a:pPr algn="r" indent="0" marL="0">
              <a:buNone/>
            </a:pPr>
            <a:r>
              <a:rPr lang="en-US" sz="1100" dirty="0">
                <a:solidFill>
                  <a:srgbClr val="5F6575"/>
                </a:solidFill>
                <a:latin typeface="Inter" pitchFamily="34" charset="0"/>
                <a:ea typeface="Inter" pitchFamily="34" charset="-122"/>
                <a:cs typeface="Inter" pitchFamily="34" charset="-120"/>
              </a:rPr>
              <a:t>7 / 11</a:t>
            </a:r>
            <a:endParaRPr lang="en-US" sz="1100" dirty="0"/>
          </a:p>
        </p:txBody>
      </p:sp>
    </p:spTree>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name="Slide 8">
    <p:bg>
      <p:bgPr>
        <a:solidFill>
          <a:srgbClr val="F3F4F6"/>
        </a:solidFill>
      </p:bgPr>
    </p:bg>
    <p:spTree>
      <p:nvGrpSpPr>
        <p:cNvPr id="1" name=""/>
        <p:cNvGrpSpPr/>
        <p:nvPr/>
      </p:nvGrpSpPr>
      <p:grpSpPr>
        <a:xfrm>
          <a:off x="0" y="0"/>
          <a:ext cx="0" cy="0"/>
          <a:chOff x="0" y="0"/>
          <a:chExt cx="0" cy="0"/>
        </a:xfrm>
      </p:grpSpPr>
      <p:sp>
        <p:nvSpPr>
          <p:cNvPr id="2" name="Text 0"/>
          <p:cNvSpPr/>
          <p:nvPr/>
        </p:nvSpPr>
        <p:spPr>
          <a:xfrm>
            <a:off x="762000" y="762000"/>
            <a:ext cx="10668000" cy="254000"/>
          </a:xfrm>
          <a:prstGeom prst="rect">
            <a:avLst/>
          </a:prstGeom>
          <a:noFill/>
          <a:ln/>
        </p:spPr>
        <p:txBody>
          <a:bodyPr wrap="square" lIns="0" tIns="0" rIns="0" bIns="0" rtlCol="0" anchor="ctr"/>
          <a:lstStyle/>
          <a:p>
            <a:pPr indent="0" marL="0">
              <a:buNone/>
            </a:pPr>
            <a:r>
              <a:rPr lang="en-US" sz="1400" b="1" spc="300" kern="0" dirty="0">
                <a:solidFill>
                  <a:srgbClr val="043882"/>
                </a:solidFill>
                <a:latin typeface="Inter" pitchFamily="34" charset="0"/>
                <a:ea typeface="Inter" pitchFamily="34" charset="-122"/>
                <a:cs typeface="Inter" pitchFamily="34" charset="-120"/>
              </a:rPr>
              <a:t>COMMON MISTAKES</a:t>
            </a:r>
            <a:endParaRPr lang="en-US" sz="1400" dirty="0"/>
          </a:p>
        </p:txBody>
      </p:sp>
      <p:sp>
        <p:nvSpPr>
          <p:cNvPr id="3" name="Text 1"/>
          <p:cNvSpPr/>
          <p:nvPr/>
        </p:nvSpPr>
        <p:spPr>
          <a:xfrm>
            <a:off x="762000" y="1168400"/>
            <a:ext cx="10668000" cy="622808"/>
          </a:xfrm>
          <a:prstGeom prst="rect">
            <a:avLst/>
          </a:prstGeom>
          <a:noFill/>
          <a:ln/>
        </p:spPr>
        <p:txBody>
          <a:bodyPr wrap="square" lIns="0" tIns="0" rIns="0" bIns="0" rtlCol="0" anchor="t"/>
          <a:lstStyle/>
          <a:p>
            <a:pPr indent="0" marL="0">
              <a:lnSpc>
                <a:spcPct val="102000"/>
              </a:lnSpc>
              <a:buNone/>
            </a:pPr>
            <a:r>
              <a:rPr lang="en-US" sz="3800" b="1" dirty="0">
                <a:solidFill>
                  <a:srgbClr val="161A24"/>
                </a:solidFill>
                <a:latin typeface="Inter" pitchFamily="34" charset="0"/>
                <a:ea typeface="Inter" pitchFamily="34" charset="-122"/>
                <a:cs typeface="Inter" pitchFamily="34" charset="-120"/>
              </a:rPr>
              <a:t>What goes wrong, and the fix</a:t>
            </a:r>
            <a:endParaRPr lang="en-US" sz="3800" dirty="0"/>
          </a:p>
        </p:txBody>
      </p:sp>
      <p:sp>
        <p:nvSpPr>
          <p:cNvPr id="4" name="Text 2"/>
          <p:cNvSpPr/>
          <p:nvPr/>
        </p:nvSpPr>
        <p:spPr>
          <a:xfrm>
            <a:off x="762000" y="1943608"/>
            <a:ext cx="10668000" cy="2443607"/>
          </a:xfrm>
          <a:prstGeom prst="rect">
            <a:avLst/>
          </a:prstGeom>
          <a:noFill/>
          <a:ln/>
        </p:spPr>
        <p:txBody>
          <a:bodyPr wrap="square" lIns="0" tIns="0" rIns="0" bIns="0" rtlCol="0" anchor="t"/>
          <a:lstStyle/>
          <a:p>
            <a:pPr marL="355600" indent="-355600">
              <a:spcAft>
                <a:spcPts val="1088"/>
              </a:spcAft>
              <a:buSzPct val="100000"/>
              <a:buChar char="•"/>
            </a:pPr>
            <a:r>
              <a:rPr lang="en-US" sz="1700" dirty="0">
                <a:solidFill>
                  <a:srgbClr val="161A24"/>
                </a:solidFill>
                <a:latin typeface="Inter" pitchFamily="34" charset="0"/>
                <a:ea typeface="Inter" pitchFamily="34" charset="-122"/>
                <a:cs typeface="Inter" pitchFamily="34" charset="-120"/>
              </a:rPr>
              <a:t>Turning it into a scam-spotting game → run one legitimate opportunity through the same four questions</a:t>
            </a:r>
            <a:endParaRPr lang="en-US" sz="1700" dirty="0"/>
          </a:p>
          <a:p>
            <a:pPr marL="355600" indent="-355600">
              <a:spcAft>
                <a:spcPts val="1088"/>
              </a:spcAft>
              <a:buSzPct val="100000"/>
              <a:buChar char="•"/>
            </a:pPr>
            <a:r>
              <a:rPr lang="en-US" sz="1700" dirty="0">
                <a:solidFill>
                  <a:srgbClr val="161A24"/>
                </a:solidFill>
                <a:latin typeface="Inter" pitchFamily="34" charset="0"/>
                <a:ea typeface="Inter" pitchFamily="34" charset="-122"/>
                <a:cs typeface="Inter" pitchFamily="34" charset="-120"/>
              </a:rPr>
              <a:t>Rescuing a participant whose post fails → let the verdict stand and hand them the sourcing method instead</a:t>
            </a:r>
            <a:endParaRPr lang="en-US" sz="1700" dirty="0"/>
          </a:p>
          <a:p>
            <a:pPr marL="355600" indent="-355600">
              <a:spcAft>
                <a:spcPts val="1088"/>
              </a:spcAft>
              <a:buSzPct val="100000"/>
              <a:buChar char="•"/>
            </a:pPr>
            <a:r>
              <a:rPr lang="en-US" sz="1700" dirty="0">
                <a:solidFill>
                  <a:srgbClr val="161A24"/>
                </a:solidFill>
                <a:latin typeface="Inter" pitchFamily="34" charset="0"/>
                <a:ea typeface="Inter" pitchFamily="34" charset="-122"/>
                <a:cs typeface="Inter" pitchFamily="34" charset="-120"/>
              </a:rPr>
              <a:t>Debating a claim instead of dating it → move the room to 'when was this true'; dates end arguments</a:t>
            </a:r>
            <a:endParaRPr lang="en-US" sz="1700" dirty="0"/>
          </a:p>
          <a:p>
            <a:pPr marL="355600" indent="-355600">
              <a:spcAft>
                <a:spcPts val="1088"/>
              </a:spcAft>
              <a:buSzPct val="100000"/>
              <a:buChar char="•"/>
            </a:pPr>
            <a:r>
              <a:rPr lang="en-US" sz="1700" dirty="0">
                <a:solidFill>
                  <a:srgbClr val="161A24"/>
                </a:solidFill>
                <a:latin typeface="Inter" pitchFamily="34" charset="0"/>
                <a:ea typeface="Inter" pitchFamily="34" charset="-122"/>
                <a:cs typeface="Inter" pitchFamily="34" charset="-120"/>
              </a:rPr>
              <a:t>Showing the red-flag list first → save it for the pass, or the room pattern-matches and skips the reasoning</a:t>
            </a:r>
            <a:endParaRPr lang="en-US" sz="1700" dirty="0"/>
          </a:p>
        </p:txBody>
      </p:sp>
      <p:sp>
        <p:nvSpPr>
          <p:cNvPr id="5" name="Text 3"/>
          <p:cNvSpPr/>
          <p:nvPr/>
        </p:nvSpPr>
        <p:spPr>
          <a:xfrm>
            <a:off x="762000" y="6248400"/>
            <a:ext cx="9398000" cy="254000"/>
          </a:xfrm>
          <a:prstGeom prst="rect">
            <a:avLst/>
          </a:prstGeom>
          <a:noFill/>
          <a:ln/>
        </p:spPr>
        <p:txBody>
          <a:bodyPr wrap="square" lIns="0" tIns="0" rIns="0" bIns="0" rtlCol="0" anchor="ctr"/>
          <a:lstStyle/>
          <a:p>
            <a:pPr indent="0" marL="0">
              <a:buNone/>
            </a:pPr>
            <a:r>
              <a:rPr lang="en-US" sz="1100" dirty="0">
                <a:solidFill>
                  <a:srgbClr val="5F6575"/>
                </a:solidFill>
                <a:latin typeface="Inter" pitchFamily="34" charset="0"/>
                <a:ea typeface="Inter" pitchFamily="34" charset="-122"/>
                <a:cs typeface="Inter" pitchFamily="34" charset="-120"/>
              </a:rPr>
              <a:t>Hire From PH (hirefrom.ph), licensed CC BY 4.0</a:t>
            </a:r>
            <a:endParaRPr lang="en-US" sz="1100" dirty="0"/>
          </a:p>
        </p:txBody>
      </p:sp>
      <p:sp>
        <p:nvSpPr>
          <p:cNvPr id="6" name="Text 4"/>
          <p:cNvSpPr/>
          <p:nvPr/>
        </p:nvSpPr>
        <p:spPr>
          <a:xfrm>
            <a:off x="10160000" y="6248400"/>
            <a:ext cx="1270000" cy="254000"/>
          </a:xfrm>
          <a:prstGeom prst="rect">
            <a:avLst/>
          </a:prstGeom>
          <a:noFill/>
          <a:ln/>
        </p:spPr>
        <p:txBody>
          <a:bodyPr wrap="square" lIns="0" tIns="0" rIns="0" bIns="0" rtlCol="0" anchor="ctr"/>
          <a:lstStyle/>
          <a:p>
            <a:pPr algn="r" indent="0" marL="0">
              <a:buNone/>
            </a:pPr>
            <a:r>
              <a:rPr lang="en-US" sz="1100" dirty="0">
                <a:solidFill>
                  <a:srgbClr val="5F6575"/>
                </a:solidFill>
                <a:latin typeface="Inter" pitchFamily="34" charset="0"/>
                <a:ea typeface="Inter" pitchFamily="34" charset="-122"/>
                <a:cs typeface="Inter" pitchFamily="34" charset="-120"/>
              </a:rPr>
              <a:t>8 / 11</a:t>
            </a:r>
            <a:endParaRPr lang="en-US" sz="1100" dirty="0"/>
          </a:p>
        </p:txBody>
      </p:sp>
    </p:spTree>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name="Slide 9">
    <p:bg>
      <p:bgPr>
        <a:solidFill>
          <a:srgbClr val="FFFFFF"/>
        </a:solidFill>
      </p:bgPr>
    </p:bg>
    <p:spTree>
      <p:nvGrpSpPr>
        <p:cNvPr id="1" name=""/>
        <p:cNvGrpSpPr/>
        <p:nvPr/>
      </p:nvGrpSpPr>
      <p:grpSpPr>
        <a:xfrm>
          <a:off x="0" y="0"/>
          <a:ext cx="0" cy="0"/>
          <a:chOff x="0" y="0"/>
          <a:chExt cx="0" cy="0"/>
        </a:xfrm>
      </p:grpSpPr>
      <p:sp>
        <p:nvSpPr>
          <p:cNvPr id="2" name="Text 0"/>
          <p:cNvSpPr/>
          <p:nvPr/>
        </p:nvSpPr>
        <p:spPr>
          <a:xfrm>
            <a:off x="762000" y="1778000"/>
            <a:ext cx="10668000" cy="254000"/>
          </a:xfrm>
          <a:prstGeom prst="rect">
            <a:avLst/>
          </a:prstGeom>
          <a:noFill/>
          <a:ln/>
        </p:spPr>
        <p:txBody>
          <a:bodyPr wrap="square" lIns="0" tIns="0" rIns="0" bIns="0" rtlCol="0" anchor="ctr"/>
          <a:lstStyle/>
          <a:p>
            <a:pPr indent="0" marL="0">
              <a:buNone/>
            </a:pPr>
            <a:r>
              <a:rPr lang="en-US" sz="1400" b="1" spc="300" kern="0" dirty="0">
                <a:solidFill>
                  <a:srgbClr val="043882"/>
                </a:solidFill>
                <a:latin typeface="Inter" pitchFamily="34" charset="0"/>
                <a:ea typeface="Inter" pitchFamily="34" charset="-122"/>
                <a:cs typeface="Inter" pitchFamily="34" charset="-120"/>
              </a:rPr>
              <a:t>TAKE-HOME</a:t>
            </a:r>
            <a:endParaRPr lang="en-US" sz="1400" dirty="0"/>
          </a:p>
        </p:txBody>
      </p:sp>
      <p:sp>
        <p:nvSpPr>
          <p:cNvPr id="3" name="Text 1"/>
          <p:cNvSpPr/>
          <p:nvPr/>
        </p:nvSpPr>
        <p:spPr>
          <a:xfrm>
            <a:off x="762000" y="2184400"/>
            <a:ext cx="10668000" cy="1994408"/>
          </a:xfrm>
          <a:prstGeom prst="rect">
            <a:avLst/>
          </a:prstGeom>
          <a:noFill/>
          <a:ln/>
        </p:spPr>
        <p:txBody>
          <a:bodyPr wrap="square" lIns="0" tIns="0" rIns="0" bIns="0" rtlCol="0" anchor="t"/>
          <a:lstStyle/>
          <a:p>
            <a:pPr indent="0" marL="0">
              <a:lnSpc>
                <a:spcPct val="102000"/>
              </a:lnSpc>
              <a:buNone/>
            </a:pPr>
            <a:r>
              <a:rPr lang="en-US" sz="4600" b="1" dirty="0">
                <a:solidFill>
                  <a:srgbClr val="161A24"/>
                </a:solidFill>
                <a:latin typeface="Inter" pitchFamily="34" charset="0"/>
                <a:ea typeface="Inter" pitchFamily="34" charset="-122"/>
                <a:cs typeface="Inter" pitchFamily="34" charset="-120"/>
              </a:rPr>
              <a:t>One habit: nothing decided about money or time without the four questions in writing</a:t>
            </a:r>
            <a:endParaRPr lang="en-US" sz="4600" dirty="0"/>
          </a:p>
        </p:txBody>
      </p:sp>
      <p:sp>
        <p:nvSpPr>
          <p:cNvPr id="4" name="Text 2"/>
          <p:cNvSpPr/>
          <p:nvPr/>
        </p:nvSpPr>
        <p:spPr>
          <a:xfrm>
            <a:off x="762000" y="4331208"/>
            <a:ext cx="8255000" cy="1143000"/>
          </a:xfrm>
          <a:prstGeom prst="rect">
            <a:avLst/>
          </a:prstGeom>
          <a:noFill/>
          <a:ln/>
        </p:spPr>
        <p:txBody>
          <a:bodyPr wrap="square" lIns="0" tIns="0" rIns="0" bIns="0" rtlCol="0" anchor="t"/>
          <a:lstStyle/>
          <a:p>
            <a:pPr indent="0" marL="0">
              <a:lnSpc>
                <a:spcPct val="115000"/>
              </a:lnSpc>
              <a:buNone/>
            </a:pPr>
            <a:r>
              <a:rPr lang="en-US" sz="2000" dirty="0">
                <a:solidFill>
                  <a:srgbClr val="464C5C"/>
                </a:solidFill>
                <a:latin typeface="Inter" pitchFamily="34" charset="0"/>
                <a:ea typeface="Inter" pitchFamily="34" charset="-122"/>
                <a:cs typeface="Inter" pitchFamily="34" charset="-120"/>
              </a:rPr>
              <a:t>A verdict on paper with a next action and the date it happens, said aloud to the room. The drill: no decision about money or time without the four questions written down first.</a:t>
            </a:r>
            <a:endParaRPr lang="en-US" sz="2000" dirty="0"/>
          </a:p>
        </p:txBody>
      </p:sp>
      <p:sp>
        <p:nvSpPr>
          <p:cNvPr id="5" name="Text 3"/>
          <p:cNvSpPr/>
          <p:nvPr/>
        </p:nvSpPr>
        <p:spPr>
          <a:xfrm>
            <a:off x="762000" y="6248400"/>
            <a:ext cx="9398000" cy="254000"/>
          </a:xfrm>
          <a:prstGeom prst="rect">
            <a:avLst/>
          </a:prstGeom>
          <a:noFill/>
          <a:ln/>
        </p:spPr>
        <p:txBody>
          <a:bodyPr wrap="square" lIns="0" tIns="0" rIns="0" bIns="0" rtlCol="0" anchor="ctr"/>
          <a:lstStyle/>
          <a:p>
            <a:pPr indent="0" marL="0">
              <a:buNone/>
            </a:pPr>
            <a:r>
              <a:rPr lang="en-US" sz="1100" dirty="0">
                <a:solidFill>
                  <a:srgbClr val="5F6575"/>
                </a:solidFill>
                <a:latin typeface="Inter" pitchFamily="34" charset="0"/>
                <a:ea typeface="Inter" pitchFamily="34" charset="-122"/>
                <a:cs typeface="Inter" pitchFamily="34" charset="-120"/>
              </a:rPr>
              <a:t>Hire From PH (hirefrom.ph), licensed CC BY 4.0</a:t>
            </a:r>
            <a:endParaRPr lang="en-US" sz="1100" dirty="0"/>
          </a:p>
        </p:txBody>
      </p:sp>
      <p:sp>
        <p:nvSpPr>
          <p:cNvPr id="6" name="Text 4"/>
          <p:cNvSpPr/>
          <p:nvPr/>
        </p:nvSpPr>
        <p:spPr>
          <a:xfrm>
            <a:off x="10160000" y="6248400"/>
            <a:ext cx="1270000" cy="254000"/>
          </a:xfrm>
          <a:prstGeom prst="rect">
            <a:avLst/>
          </a:prstGeom>
          <a:noFill/>
          <a:ln/>
        </p:spPr>
        <p:txBody>
          <a:bodyPr wrap="square" lIns="0" tIns="0" rIns="0" bIns="0" rtlCol="0" anchor="ctr"/>
          <a:lstStyle/>
          <a:p>
            <a:pPr algn="r" indent="0" marL="0">
              <a:buNone/>
            </a:pPr>
            <a:r>
              <a:rPr lang="en-US" sz="1100" dirty="0">
                <a:solidFill>
                  <a:srgbClr val="5F6575"/>
                </a:solidFill>
                <a:latin typeface="Inter" pitchFamily="34" charset="0"/>
                <a:ea typeface="Inter" pitchFamily="34" charset="-122"/>
                <a:cs typeface="Inter" pitchFamily="34" charset="-120"/>
              </a:rPr>
              <a:t>9 / 11</a:t>
            </a:r>
            <a:endParaRPr lang="en-US" sz="1100" dirty="0"/>
          </a:p>
        </p:txBody>
      </p:sp>
    </p:spTree>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name="Slide 10">
    <p:bg>
      <p:bgPr>
        <a:solidFill>
          <a:srgbClr val="FFFFFF"/>
        </a:solidFill>
      </p:bgPr>
    </p:bg>
    <p:spTree>
      <p:nvGrpSpPr>
        <p:cNvPr id="1" name=""/>
        <p:cNvGrpSpPr/>
        <p:nvPr/>
      </p:nvGrpSpPr>
      <p:grpSpPr>
        <a:xfrm>
          <a:off x="0" y="0"/>
          <a:ext cx="0" cy="0"/>
          <a:chOff x="0" y="0"/>
          <a:chExt cx="0" cy="0"/>
        </a:xfrm>
      </p:grpSpPr>
      <p:sp>
        <p:nvSpPr>
          <p:cNvPr id="2" name="Text 0"/>
          <p:cNvSpPr/>
          <p:nvPr/>
        </p:nvSpPr>
        <p:spPr>
          <a:xfrm>
            <a:off x="762000" y="1778000"/>
            <a:ext cx="10668000" cy="254000"/>
          </a:xfrm>
          <a:prstGeom prst="rect">
            <a:avLst/>
          </a:prstGeom>
          <a:noFill/>
          <a:ln/>
        </p:spPr>
        <p:txBody>
          <a:bodyPr wrap="square" lIns="0" tIns="0" rIns="0" bIns="0" rtlCol="0" anchor="ctr"/>
          <a:lstStyle/>
          <a:p>
            <a:pPr indent="0" marL="0">
              <a:buNone/>
            </a:pPr>
            <a:r>
              <a:rPr lang="en-US" sz="1400" b="1" spc="300" kern="0" dirty="0">
                <a:solidFill>
                  <a:srgbClr val="043882"/>
                </a:solidFill>
                <a:latin typeface="Inter" pitchFamily="34" charset="0"/>
                <a:ea typeface="Inter" pitchFamily="34" charset="-122"/>
                <a:cs typeface="Inter" pitchFamily="34" charset="-120"/>
              </a:rPr>
              <a:t>NEXT SESSION</a:t>
            </a:r>
            <a:endParaRPr lang="en-US" sz="1400" dirty="0"/>
          </a:p>
        </p:txBody>
      </p:sp>
      <p:sp>
        <p:nvSpPr>
          <p:cNvPr id="3" name="Text 1"/>
          <p:cNvSpPr/>
          <p:nvPr/>
        </p:nvSpPr>
        <p:spPr>
          <a:xfrm>
            <a:off x="762000" y="2184400"/>
            <a:ext cx="10668000" cy="1363472"/>
          </a:xfrm>
          <a:prstGeom prst="rect">
            <a:avLst/>
          </a:prstGeom>
          <a:noFill/>
          <a:ln/>
        </p:spPr>
        <p:txBody>
          <a:bodyPr wrap="square" lIns="0" tIns="0" rIns="0" bIns="0" rtlCol="0" anchor="t"/>
          <a:lstStyle/>
          <a:p>
            <a:pPr indent="0" marL="0">
              <a:lnSpc>
                <a:spcPct val="102000"/>
              </a:lnSpc>
              <a:buNone/>
            </a:pPr>
            <a:r>
              <a:rPr lang="en-US" sz="4600" b="1" dirty="0">
                <a:solidFill>
                  <a:srgbClr val="161A24"/>
                </a:solidFill>
                <a:latin typeface="Inter" pitchFamily="34" charset="0"/>
                <a:ea typeface="Inter" pitchFamily="34" charset="-122"/>
                <a:cs typeface="Inter" pitchFamily="34" charset="-120"/>
              </a:rPr>
              <a:t>Next: Ask a question that gets answered</a:t>
            </a:r>
            <a:endParaRPr lang="en-US" sz="4600" dirty="0"/>
          </a:p>
        </p:txBody>
      </p:sp>
      <p:sp>
        <p:nvSpPr>
          <p:cNvPr id="4" name="Text 2"/>
          <p:cNvSpPr/>
          <p:nvPr/>
        </p:nvSpPr>
        <p:spPr>
          <a:xfrm>
            <a:off x="762000" y="3700272"/>
            <a:ext cx="8255000" cy="1143000"/>
          </a:xfrm>
          <a:prstGeom prst="rect">
            <a:avLst/>
          </a:prstGeom>
          <a:noFill/>
          <a:ln/>
        </p:spPr>
        <p:txBody>
          <a:bodyPr wrap="square" lIns="0" tIns="0" rIns="0" bIns="0" rtlCol="0" anchor="t"/>
          <a:lstStyle/>
          <a:p>
            <a:pPr indent="0" marL="0">
              <a:lnSpc>
                <a:spcPct val="115000"/>
              </a:lnSpc>
              <a:buNone/>
            </a:pPr>
            <a:r>
              <a:rPr lang="en-US" sz="2000" dirty="0">
                <a:solidFill>
                  <a:srgbClr val="464C5C"/>
                </a:solidFill>
                <a:latin typeface="Inter" pitchFamily="34" charset="0"/>
                <a:ea typeface="Inter" pitchFamily="34" charset="-122"/>
                <a:cs typeface="Inter" pitchFamily="34" charset="-120"/>
              </a:rPr>
              <a:t>A forty-five-minute session that turns a vague plea into a four-part question a busy professional will answer. Ask everyone to bring a question nobody answered, with the exact wording.</a:t>
            </a:r>
            <a:endParaRPr lang="en-US" sz="2000" dirty="0"/>
          </a:p>
        </p:txBody>
      </p:sp>
      <p:sp>
        <p:nvSpPr>
          <p:cNvPr id="5" name="Text 3"/>
          <p:cNvSpPr/>
          <p:nvPr/>
        </p:nvSpPr>
        <p:spPr>
          <a:xfrm>
            <a:off x="762000" y="6248400"/>
            <a:ext cx="9398000" cy="254000"/>
          </a:xfrm>
          <a:prstGeom prst="rect">
            <a:avLst/>
          </a:prstGeom>
          <a:noFill/>
          <a:ln/>
        </p:spPr>
        <p:txBody>
          <a:bodyPr wrap="square" lIns="0" tIns="0" rIns="0" bIns="0" rtlCol="0" anchor="ctr"/>
          <a:lstStyle/>
          <a:p>
            <a:pPr indent="0" marL="0">
              <a:buNone/>
            </a:pPr>
            <a:r>
              <a:rPr lang="en-US" sz="1100" dirty="0">
                <a:solidFill>
                  <a:srgbClr val="5F6575"/>
                </a:solidFill>
                <a:latin typeface="Inter" pitchFamily="34" charset="0"/>
                <a:ea typeface="Inter" pitchFamily="34" charset="-122"/>
                <a:cs typeface="Inter" pitchFamily="34" charset="-120"/>
              </a:rPr>
              <a:t>Hire From PH (hirefrom.ph), licensed CC BY 4.0</a:t>
            </a:r>
            <a:endParaRPr lang="en-US" sz="1100" dirty="0"/>
          </a:p>
        </p:txBody>
      </p:sp>
      <p:sp>
        <p:nvSpPr>
          <p:cNvPr id="6" name="Text 4"/>
          <p:cNvSpPr/>
          <p:nvPr/>
        </p:nvSpPr>
        <p:spPr>
          <a:xfrm>
            <a:off x="10160000" y="6248400"/>
            <a:ext cx="1270000" cy="254000"/>
          </a:xfrm>
          <a:prstGeom prst="rect">
            <a:avLst/>
          </a:prstGeom>
          <a:noFill/>
          <a:ln/>
        </p:spPr>
        <p:txBody>
          <a:bodyPr wrap="square" lIns="0" tIns="0" rIns="0" bIns="0" rtlCol="0" anchor="ctr"/>
          <a:lstStyle/>
          <a:p>
            <a:pPr algn="r" indent="0" marL="0">
              <a:buNone/>
            </a:pPr>
            <a:r>
              <a:rPr lang="en-US" sz="1100" dirty="0">
                <a:solidFill>
                  <a:srgbClr val="5F6575"/>
                </a:solidFill>
                <a:latin typeface="Inter" pitchFamily="34" charset="0"/>
                <a:ea typeface="Inter" pitchFamily="34" charset="-122"/>
                <a:cs typeface="Inter" pitchFamily="34" charset="-120"/>
              </a:rPr>
              <a:t>10 / 11</a:t>
            </a:r>
            <a:endParaRPr lang="en-US" sz="1100" dirty="0"/>
          </a:p>
        </p:txBody>
      </p:sp>
    </p:spTree>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name="Slide 11">
    <p:bg>
      <p:bgPr>
        <a:solidFill>
          <a:srgbClr val="161A24"/>
        </a:solidFill>
      </p:bgPr>
    </p:bg>
    <p:spTree>
      <p:nvGrpSpPr>
        <p:cNvPr id="1" name=""/>
        <p:cNvGrpSpPr/>
        <p:nvPr/>
      </p:nvGrpSpPr>
      <p:grpSpPr>
        <a:xfrm>
          <a:off x="0" y="0"/>
          <a:ext cx="0" cy="0"/>
          <a:chOff x="0" y="0"/>
          <a:chExt cx="0" cy="0"/>
        </a:xfrm>
      </p:grpSpPr>
      <p:pic>
        <p:nvPicPr>
          <p:cNvPr id="2" name="Image 0" descr="C:\Users\Developer\Desktop\hirefromph\hirefromph\public\images\deck-close.jpg">    </p:cNvPr>
          <p:cNvPicPr>
            <a:picLocks noChangeAspect="1"/>
          </p:cNvPicPr>
          <p:nvPr/>
        </p:nvPicPr>
        <p:blipFill>
          <a:blip r:embed="rId1"/>
          <a:srcRect l="0" r="0" t="0" b="0"/>
          <a:stretch/>
        </p:blipFill>
        <p:spPr>
          <a:xfrm>
            <a:off x="0" y="0"/>
            <a:ext cx="12191695" cy="6858000"/>
          </a:xfrm>
          <a:prstGeom prst="rect">
            <a:avLst/>
          </a:prstGeom>
        </p:spPr>
      </p:pic>
      <p:sp>
        <p:nvSpPr>
          <p:cNvPr id="3" name="Shape 0"/>
          <p:cNvSpPr/>
          <p:nvPr/>
        </p:nvSpPr>
        <p:spPr>
          <a:xfrm>
            <a:off x="0" y="0"/>
            <a:ext cx="12191695" cy="6858000"/>
          </a:xfrm>
          <a:prstGeom prst="rect">
            <a:avLst/>
          </a:prstGeom>
          <a:solidFill>
            <a:srgbClr val="161A24">
              <a:alpha val="72000"/>
            </a:srgbClr>
          </a:solidFill>
          <a:ln w="12700">
            <a:solidFill>
              <a:srgbClr val="161A24">
                <a:alpha val="0"/>
              </a:srgbClr>
            </a:solidFill>
            <a:prstDash val="solid"/>
          </a:ln>
        </p:spPr>
      </p:sp>
      <p:sp>
        <p:nvSpPr>
          <p:cNvPr id="4" name="Text 1"/>
          <p:cNvSpPr/>
          <p:nvPr/>
        </p:nvSpPr>
        <p:spPr>
          <a:xfrm>
            <a:off x="762000" y="1905000"/>
            <a:ext cx="10668000" cy="254000"/>
          </a:xfrm>
          <a:prstGeom prst="rect">
            <a:avLst/>
          </a:prstGeom>
          <a:noFill/>
          <a:ln/>
        </p:spPr>
        <p:txBody>
          <a:bodyPr wrap="square" lIns="0" tIns="0" rIns="0" bIns="0" rtlCol="0" anchor="ctr"/>
          <a:lstStyle/>
          <a:p>
            <a:pPr indent="0" marL="0">
              <a:buNone/>
            </a:pPr>
            <a:r>
              <a:rPr lang="en-US" sz="1400" b="1" spc="300" kern="0" dirty="0">
                <a:solidFill>
                  <a:srgbClr val="AFC5EE"/>
                </a:solidFill>
                <a:latin typeface="Inter" pitchFamily="34" charset="0"/>
                <a:ea typeface="Inter" pitchFamily="34" charset="-122"/>
                <a:cs typeface="Inter" pitchFamily="34" charset="-120"/>
              </a:rPr>
              <a:t>LICENCE</a:t>
            </a:r>
            <a:endParaRPr lang="en-US" sz="1400" dirty="0"/>
          </a:p>
        </p:txBody>
      </p:sp>
      <p:sp>
        <p:nvSpPr>
          <p:cNvPr id="5" name="Text 2"/>
          <p:cNvSpPr/>
          <p:nvPr/>
        </p:nvSpPr>
        <p:spPr>
          <a:xfrm>
            <a:off x="762000" y="2311400"/>
            <a:ext cx="10668000" cy="814832"/>
          </a:xfrm>
          <a:prstGeom prst="rect">
            <a:avLst/>
          </a:prstGeom>
          <a:noFill/>
          <a:ln/>
        </p:spPr>
        <p:txBody>
          <a:bodyPr wrap="square" lIns="0" tIns="0" rIns="0" bIns="0" rtlCol="0" anchor="t"/>
          <a:lstStyle/>
          <a:p>
            <a:pPr indent="0" marL="0">
              <a:lnSpc>
                <a:spcPct val="102000"/>
              </a:lnSpc>
              <a:buNone/>
            </a:pPr>
            <a:r>
              <a:rPr lang="en-US" sz="5200" b="1" dirty="0">
                <a:solidFill>
                  <a:srgbClr val="FFFFFF"/>
                </a:solidFill>
                <a:latin typeface="Inter" pitchFamily="34" charset="0"/>
                <a:ea typeface="Inter" pitchFamily="34" charset="-122"/>
                <a:cs typeface="Inter" pitchFamily="34" charset="-120"/>
              </a:rPr>
              <a:t>Run it, adapt it, pass it on</a:t>
            </a:r>
            <a:endParaRPr lang="en-US" sz="5200" dirty="0"/>
          </a:p>
        </p:txBody>
      </p:sp>
      <p:sp>
        <p:nvSpPr>
          <p:cNvPr id="6" name="Text 3"/>
          <p:cNvSpPr/>
          <p:nvPr/>
        </p:nvSpPr>
        <p:spPr>
          <a:xfrm>
            <a:off x="762000" y="3278632"/>
            <a:ext cx="8255000" cy="467360"/>
          </a:xfrm>
          <a:prstGeom prst="rect">
            <a:avLst/>
          </a:prstGeom>
          <a:noFill/>
          <a:ln/>
        </p:spPr>
        <p:txBody>
          <a:bodyPr wrap="square" lIns="0" tIns="0" rIns="0" bIns="0" rtlCol="0" anchor="t"/>
          <a:lstStyle/>
          <a:p>
            <a:pPr indent="0" marL="0">
              <a:lnSpc>
                <a:spcPct val="115000"/>
              </a:lnSpc>
              <a:buNone/>
            </a:pPr>
            <a:r>
              <a:rPr lang="en-US" sz="2200" dirty="0">
                <a:solidFill>
                  <a:srgbClr val="EAF0FB"/>
                </a:solidFill>
                <a:latin typeface="Inter" pitchFamily="34" charset="0"/>
                <a:ea typeface="Inter" pitchFamily="34" charset="-122"/>
                <a:cs typeface="Inter" pitchFamily="34" charset="-120"/>
              </a:rPr>
              <a:t>CC BY 4.0, with attribution</a:t>
            </a:r>
            <a:endParaRPr lang="en-US" sz="2200" dirty="0"/>
          </a:p>
        </p:txBody>
      </p:sp>
      <p:sp>
        <p:nvSpPr>
          <p:cNvPr id="7" name="Text 4"/>
          <p:cNvSpPr/>
          <p:nvPr/>
        </p:nvSpPr>
        <p:spPr>
          <a:xfrm>
            <a:off x="762000" y="6248400"/>
            <a:ext cx="9398000" cy="254000"/>
          </a:xfrm>
          <a:prstGeom prst="rect">
            <a:avLst/>
          </a:prstGeom>
          <a:noFill/>
          <a:ln/>
        </p:spPr>
        <p:txBody>
          <a:bodyPr wrap="square" lIns="0" tIns="0" rIns="0" bIns="0" rtlCol="0" anchor="ctr"/>
          <a:lstStyle/>
          <a:p>
            <a:pPr indent="0" marL="0">
              <a:buNone/>
            </a:pPr>
            <a:r>
              <a:rPr lang="en-US" sz="1100" dirty="0">
                <a:solidFill>
                  <a:srgbClr val="EAF0FB"/>
                </a:solidFill>
                <a:latin typeface="Inter" pitchFamily="34" charset="0"/>
                <a:ea typeface="Inter" pitchFamily="34" charset="-122"/>
                <a:cs typeface="Inter" pitchFamily="34" charset="-120"/>
              </a:rPr>
              <a:t>CC BY 4.0 · creativecommons.org/licenses/by/4.0/</a:t>
            </a:r>
            <a:endParaRPr lang="en-US" sz="1100" dirty="0"/>
          </a:p>
        </p:txBody>
      </p:sp>
      <p:sp>
        <p:nvSpPr>
          <p:cNvPr id="8" name="Text 5"/>
          <p:cNvSpPr/>
          <p:nvPr/>
        </p:nvSpPr>
        <p:spPr>
          <a:xfrm>
            <a:off x="10160000" y="6248400"/>
            <a:ext cx="1270000" cy="254000"/>
          </a:xfrm>
          <a:prstGeom prst="rect">
            <a:avLst/>
          </a:prstGeom>
          <a:noFill/>
          <a:ln/>
        </p:spPr>
        <p:txBody>
          <a:bodyPr wrap="square" lIns="0" tIns="0" rIns="0" bIns="0" rtlCol="0" anchor="ctr"/>
          <a:lstStyle/>
          <a:p>
            <a:pPr algn="r" indent="0" marL="0">
              <a:buNone/>
            </a:pPr>
            <a:r>
              <a:rPr lang="en-US" sz="1100" dirty="0">
                <a:solidFill>
                  <a:srgbClr val="EAF0FB"/>
                </a:solidFill>
                <a:latin typeface="Inter" pitchFamily="34" charset="0"/>
                <a:ea typeface="Inter" pitchFamily="34" charset="-122"/>
                <a:cs typeface="Inter" pitchFamily="34" charset="-120"/>
              </a:rPr>
              <a:t>11 / 11</a:t>
            </a:r>
            <a:endParaRPr lang="en-US" sz="1100" dirty="0"/>
          </a:p>
        </p:txBody>
      </p:sp>
    </p:spTree>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Calibri Light" panose="020F030202020403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Calibri" panose="020F050202020403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docProps/app.xml><?xml version="1.0" encoding="utf-8"?>
<Properties xmlns="http://schemas.openxmlformats.org/officeDocument/2006/extended-properties" xmlns:vt="http://schemas.openxmlformats.org/officeDocument/2006/docPropsVTypes">
  <TotalTime>0</TotalTime>
  <Words>0</Words>
  <Application>Microsoft Office PowerPoint</Application>
  <PresentationFormat>On-screen Show (16:9)</PresentationFormat>
  <Paragraphs>0</Paragraphs>
  <Slides>11</Slides>
  <Notes>11</Notes>
  <HiddenSlides>0</HiddenSlides>
  <MMClips>0</MMClips>
  <ScaleCrop>false</ScaleCrop>
  <HeadingPairs>
    <vt:vector size="6" baseType="variant">
      <vt:variant>
        <vt:lpstr>Fonts Used</vt:lpstr>
      </vt:variant>
      <vt:variant>
        <vt:i4>2</vt:i4>
      </vt:variant>
      <vt:variant>
        <vt:lpstr>Theme</vt:lpstr>
      </vt:variant>
      <vt:variant>
        <vt:i4>1</vt:i4>
      </vt:variant>
      <vt:variant>
        <vt:lpstr>Slide Titles</vt:lpstr>
      </vt:variant>
      <vt:variant>
        <vt:i4>11</vt:i4>
      </vt:variant>
    </vt:vector>
  </HeadingPairs>
  <TitlesOfParts>
    <vt:vector size="14" baseType="lpstr">
      <vt:lpstr>Arial</vt:lpstr>
      <vt:lpstr>Calibri</vt:lpstr>
      <vt:lpstr>Office Theme</vt:lpstr>
      <vt:lpstr>Slide 1</vt:lpstr>
      <vt:lpstr>Slide 2</vt:lpstr>
      <vt:lpstr>Slide 3</vt:lpstr>
      <vt:lpstr>Slide 4</vt:lpstr>
      <vt:lpstr>Slide 5</vt:lpstr>
      <vt:lpstr>Slide 6</vt:lpstr>
      <vt:lpstr>Slide 7</vt:lpstr>
      <vt:lpstr>Slide 8</vt:lpstr>
      <vt:lpstr>Slide 9</vt:lpstr>
      <vt:lpstr>Slide 10</vt:lpstr>
      <vt:lpstr>Slide 11</vt:lpstr>
    </vt:vector>
  </TitlesOfParts>
  <Company>PptxGenJS</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Vet an opportunity</dc:title>
  <dc:subject>A 60-minute session</dc:subject>
  <dc:creator>Hire From PH</dc:creator>
  <cp:lastModifiedBy>Hire From PH</cp:lastModifiedBy>
  <cp:revision>1</cp:revision>
  <dcterms:created xsi:type="dcterms:W3CDTF">2026-09-20T11:32:49Z</dcterms:created>
  <dcterms:modified xsi:type="dcterms:W3CDTF">2026-09-20T11:32:49Z</dcterms:modified>
</cp:coreProperties>
</file>